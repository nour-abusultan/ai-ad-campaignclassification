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1"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defPPr>
      <a:defRPr lang="ar-P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1"/>
  <c:style val="2"/>
  <c:chart>
    <c:autoTitleDeleted val="1"/>
    <c:plotArea>
      <c:layout/>
      <c:barChart>
        <c:barDir val="col"/>
        <c:grouping val="clustered"/>
        <c:varyColors val="0"/>
        <c:ser>
          <c:idx val="0"/>
          <c:order val="0"/>
          <c:tx>
            <c:strRef>
              <c:f>Sheet1!$B$1</c:f>
              <c:strCache>
                <c:ptCount val="1"/>
                <c:pt idx="0">
                  <c:v>الدقة</c:v>
                </c:pt>
              </c:strCache>
            </c:strRef>
          </c:tx>
          <c:spPr>
            <a:solidFill>
              <a:srgbClr val="3A6FF8"/>
            </a:solidFill>
            <a:effectLst/>
          </c:spPr>
          <c:invertIfNegative val="0"/>
          <c:dPt>
            <c:idx val="0"/>
            <c:invertIfNegative val="0"/>
            <c:bubble3D val="0"/>
            <c:spPr>
              <a:solidFill>
                <a:srgbClr val="3A6FF8"/>
              </a:solidFill>
              <a:effectLst/>
            </c:spPr>
            <c:extLst>
              <c:ext xmlns:c16="http://schemas.microsoft.com/office/drawing/2014/chart" uri="{C3380CC4-5D6E-409C-BE32-E72D297353CC}">
                <c16:uniqueId val="{00000001-785B-4081-9DF8-17B85F1A6B60}"/>
              </c:ext>
            </c:extLst>
          </c:dPt>
          <c:dPt>
            <c:idx val="1"/>
            <c:invertIfNegative val="0"/>
            <c:bubble3D val="0"/>
            <c:spPr>
              <a:solidFill>
                <a:srgbClr val="6E93F7"/>
              </a:solidFill>
              <a:effectLst/>
            </c:spPr>
            <c:extLst>
              <c:ext xmlns:c16="http://schemas.microsoft.com/office/drawing/2014/chart" uri="{C3380CC4-5D6E-409C-BE32-E72D297353CC}">
                <c16:uniqueId val="{00000003-785B-4081-9DF8-17B85F1A6B60}"/>
              </c:ext>
            </c:extLst>
          </c:dPt>
          <c:dPt>
            <c:idx val="2"/>
            <c:invertIfNegative val="0"/>
            <c:bubble3D val="0"/>
            <c:spPr>
              <a:solidFill>
                <a:srgbClr val="CADCFC"/>
              </a:solidFill>
              <a:effectLst/>
            </c:spPr>
            <c:extLst>
              <c:ext xmlns:c16="http://schemas.microsoft.com/office/drawing/2014/chart" uri="{C3380CC4-5D6E-409C-BE32-E72D297353CC}">
                <c16:uniqueId val="{00000005-785B-4081-9DF8-17B85F1A6B60}"/>
              </c:ext>
            </c:extLst>
          </c:dPt>
          <c:dLbls>
            <c:numFmt formatCode="0.00" sourceLinked="0"/>
            <c:spPr>
              <a:noFill/>
              <a:ln>
                <a:noFill/>
              </a:ln>
              <a:effectLst/>
            </c:spPr>
            <c:txPr>
              <a:bodyPr/>
              <a:lstStyle/>
              <a:p>
                <a:pPr>
                  <a:defRPr sz="1300" b="1" i="0" u="none" strike="noStrike">
                    <a:solidFill>
                      <a:srgbClr val="1E2761"/>
                    </a:solidFill>
                    <a:latin typeface="Arial"/>
                  </a:defRPr>
                </a:pPr>
                <a:endParaRPr lang="ar-P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c:v>
                </c:pt>
                <c:pt idx="1">
                  <c:v>Random Forest</c:v>
                </c:pt>
                <c:pt idx="2">
                  <c:v>Decision Tree</c:v>
                </c:pt>
              </c:strCache>
            </c:strRef>
          </c:cat>
          <c:val>
            <c:numRef>
              <c:f>Sheet1!$B$2:$B$4</c:f>
              <c:numCache>
                <c:formatCode>General</c:formatCode>
                <c:ptCount val="3"/>
                <c:pt idx="0">
                  <c:v>100</c:v>
                </c:pt>
                <c:pt idx="1">
                  <c:v>99.84</c:v>
                </c:pt>
                <c:pt idx="2">
                  <c:v>99.74</c:v>
                </c:pt>
              </c:numCache>
            </c:numRef>
          </c:val>
          <c:extLst>
            <c:ext xmlns:c16="http://schemas.microsoft.com/office/drawing/2014/chart" uri="{C3380CC4-5D6E-409C-BE32-E72D297353CC}">
              <c16:uniqueId val="{00000006-785B-4081-9DF8-17B85F1A6B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472"/>
                </a:solidFill>
                <a:latin typeface="Arial"/>
              </a:defRPr>
            </a:pPr>
            <a:endParaRPr lang="ar-PS"/>
          </a:p>
        </c:txPr>
        <c:crossAx val="2094734552"/>
        <c:crosses val="autoZero"/>
        <c:auto val="1"/>
        <c:lblAlgn val="ctr"/>
        <c:lblOffset val="100"/>
        <c:noMultiLvlLbl val="1"/>
      </c:catAx>
      <c:valAx>
        <c:axId val="2094734552"/>
        <c:scaling>
          <c:orientation val="minMax"/>
          <c:max val="100"/>
          <c:min val="99"/>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ar-PS"/>
          </a:p>
        </c:txPr>
        <c:crossAx val="2094734554"/>
        <c:crosses val="autoZero"/>
        <c:crossBetween val="between"/>
        <c:majorUnit val="0.25"/>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543605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3C54DA5-1221-4204-90CC-D656BE786470}"/>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ar-PS"/>
          </a:p>
        </p:txBody>
      </p:sp>
      <p:sp>
        <p:nvSpPr>
          <p:cNvPr id="3" name="عنوان فرعي 2">
            <a:extLst>
              <a:ext uri="{FF2B5EF4-FFF2-40B4-BE49-F238E27FC236}">
                <a16:creationId xmlns:a16="http://schemas.microsoft.com/office/drawing/2014/main" id="{FD1E87AF-C7E0-4C76-9F15-EC19F0C99F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ar-PS"/>
          </a:p>
        </p:txBody>
      </p:sp>
      <p:sp>
        <p:nvSpPr>
          <p:cNvPr id="4" name="عنصر نائب للتاريخ 3">
            <a:extLst>
              <a:ext uri="{FF2B5EF4-FFF2-40B4-BE49-F238E27FC236}">
                <a16:creationId xmlns:a16="http://schemas.microsoft.com/office/drawing/2014/main" id="{EB6519DC-D003-4921-8F15-AE690AADCD1D}"/>
              </a:ext>
            </a:extLst>
          </p:cNvPr>
          <p:cNvSpPr>
            <a:spLocks noGrp="1"/>
          </p:cNvSpPr>
          <p:nvPr>
            <p:ph type="dt" sz="half" idx="10"/>
          </p:nvPr>
        </p:nvSpPr>
        <p:spPr/>
        <p:txBody>
          <a:bodyPr/>
          <a:lstStyle/>
          <a:p>
            <a:fld id="{4BDF68E2-58F2-4D09-BE8B-E3BD06533059}" type="datetimeFigureOut">
              <a:rPr lang="en-US" smtClean="0"/>
              <a:t>6/10/2026</a:t>
            </a:fld>
            <a:endParaRPr lang="en-US" dirty="0"/>
          </a:p>
        </p:txBody>
      </p:sp>
      <p:sp>
        <p:nvSpPr>
          <p:cNvPr id="5" name="عنصر نائب للتذييل 4">
            <a:extLst>
              <a:ext uri="{FF2B5EF4-FFF2-40B4-BE49-F238E27FC236}">
                <a16:creationId xmlns:a16="http://schemas.microsoft.com/office/drawing/2014/main" id="{C66D99F4-B675-4996-9126-F6ACB8AC8AE0}"/>
              </a:ext>
            </a:extLst>
          </p:cNvPr>
          <p:cNvSpPr>
            <a:spLocks noGrp="1"/>
          </p:cNvSpPr>
          <p:nvPr>
            <p:ph type="ftr" sz="quarter" idx="11"/>
          </p:nvPr>
        </p:nvSpPr>
        <p:spPr/>
        <p:txBody>
          <a:bodyPr/>
          <a:lstStyle/>
          <a:p>
            <a:endParaRPr lang="en-US" dirty="0"/>
          </a:p>
        </p:txBody>
      </p:sp>
      <p:sp>
        <p:nvSpPr>
          <p:cNvPr id="6" name="عنصر نائب لرقم الشريحة 5">
            <a:extLst>
              <a:ext uri="{FF2B5EF4-FFF2-40B4-BE49-F238E27FC236}">
                <a16:creationId xmlns:a16="http://schemas.microsoft.com/office/drawing/2014/main" id="{DDCB9AC4-9070-49F2-8E47-5D8AE75D807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2969979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CE2F1A2-6FF4-4797-A2E4-F4D91CF87495}"/>
              </a:ext>
            </a:extLst>
          </p:cNvPr>
          <p:cNvSpPr>
            <a:spLocks noGrp="1"/>
          </p:cNvSpPr>
          <p:nvPr>
            <p:ph type="title"/>
          </p:nvPr>
        </p:nvSpPr>
        <p:spPr/>
        <p:txBody>
          <a:bodyPr/>
          <a:lstStyle/>
          <a:p>
            <a:r>
              <a:rPr lang="ar-SA"/>
              <a:t>انقر لتحرير نمط عنوان الشكل الرئيسي</a:t>
            </a:r>
            <a:endParaRPr lang="ar-PS"/>
          </a:p>
        </p:txBody>
      </p:sp>
      <p:sp>
        <p:nvSpPr>
          <p:cNvPr id="3" name="عنصر نائب للمحتوى 2">
            <a:extLst>
              <a:ext uri="{FF2B5EF4-FFF2-40B4-BE49-F238E27FC236}">
                <a16:creationId xmlns:a16="http://schemas.microsoft.com/office/drawing/2014/main" id="{27C3A106-3B23-443E-A309-AC4B222104AD}"/>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4" name="عنصر نائب للتاريخ 3">
            <a:extLst>
              <a:ext uri="{FF2B5EF4-FFF2-40B4-BE49-F238E27FC236}">
                <a16:creationId xmlns:a16="http://schemas.microsoft.com/office/drawing/2014/main" id="{8F03EAA3-80E5-448E-A8A2-C1573F6FC6C5}"/>
              </a:ext>
            </a:extLst>
          </p:cNvPr>
          <p:cNvSpPr>
            <a:spLocks noGrp="1"/>
          </p:cNvSpPr>
          <p:nvPr>
            <p:ph type="dt" sz="half" idx="10"/>
          </p:nvPr>
        </p:nvSpPr>
        <p:spPr/>
        <p:txBody>
          <a:bodyPr/>
          <a:lstStyle/>
          <a:p>
            <a:fld id="{528FC5F6-F338-4AE4-BB23-26385BCFC423}" type="datetimeFigureOut">
              <a:rPr lang="en-US" smtClean="0"/>
              <a:t>6/10/2026</a:t>
            </a:fld>
            <a:endParaRPr lang="en-US" dirty="0"/>
          </a:p>
        </p:txBody>
      </p:sp>
      <p:sp>
        <p:nvSpPr>
          <p:cNvPr id="5" name="عنصر نائب للتذييل 4">
            <a:extLst>
              <a:ext uri="{FF2B5EF4-FFF2-40B4-BE49-F238E27FC236}">
                <a16:creationId xmlns:a16="http://schemas.microsoft.com/office/drawing/2014/main" id="{8FA6B29B-8DCD-486A-AA1F-F00B50AC665F}"/>
              </a:ext>
            </a:extLst>
          </p:cNvPr>
          <p:cNvSpPr>
            <a:spLocks noGrp="1"/>
          </p:cNvSpPr>
          <p:nvPr>
            <p:ph type="ftr" sz="quarter" idx="11"/>
          </p:nvPr>
        </p:nvSpPr>
        <p:spPr/>
        <p:txBody>
          <a:bodyPr/>
          <a:lstStyle/>
          <a:p>
            <a:endParaRPr lang="en-US" dirty="0"/>
          </a:p>
        </p:txBody>
      </p:sp>
      <p:sp>
        <p:nvSpPr>
          <p:cNvPr id="6" name="عنصر نائب لرقم الشريحة 5">
            <a:extLst>
              <a:ext uri="{FF2B5EF4-FFF2-40B4-BE49-F238E27FC236}">
                <a16:creationId xmlns:a16="http://schemas.microsoft.com/office/drawing/2014/main" id="{DB6B892F-0D4A-4832-8487-4D3118BAFE94}"/>
              </a:ext>
            </a:extLst>
          </p:cNvPr>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312632719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65000CB-ED09-4637-A16B-BDE13149B551}"/>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endParaRPr lang="ar-PS"/>
          </a:p>
        </p:txBody>
      </p:sp>
      <p:sp>
        <p:nvSpPr>
          <p:cNvPr id="3" name="عنصر نائب للنص 2">
            <a:extLst>
              <a:ext uri="{FF2B5EF4-FFF2-40B4-BE49-F238E27FC236}">
                <a16:creationId xmlns:a16="http://schemas.microsoft.com/office/drawing/2014/main" id="{B3ECCC52-A15A-488C-B26F-F7154D00E8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2D4E681D-6D8B-4F2F-9FEC-09E987434559}"/>
              </a:ext>
            </a:extLst>
          </p:cNvPr>
          <p:cNvSpPr>
            <a:spLocks noGrp="1"/>
          </p:cNvSpPr>
          <p:nvPr>
            <p:ph type="dt" sz="half" idx="10"/>
          </p:nvPr>
        </p:nvSpPr>
        <p:spPr/>
        <p:txBody>
          <a:bodyPr/>
          <a:lstStyle/>
          <a:p>
            <a:fld id="{20EBB0C4-6273-4C6E-B9BD-2EDC30F1CD52}" type="datetimeFigureOut">
              <a:rPr lang="en-US" smtClean="0"/>
              <a:t>6/10/2026</a:t>
            </a:fld>
            <a:endParaRPr lang="en-US" dirty="0"/>
          </a:p>
        </p:txBody>
      </p:sp>
      <p:sp>
        <p:nvSpPr>
          <p:cNvPr id="5" name="عنصر نائب للتذييل 4">
            <a:extLst>
              <a:ext uri="{FF2B5EF4-FFF2-40B4-BE49-F238E27FC236}">
                <a16:creationId xmlns:a16="http://schemas.microsoft.com/office/drawing/2014/main" id="{46DC477C-2A9E-4F8E-9D5F-0E9A1CE95A63}"/>
              </a:ext>
            </a:extLst>
          </p:cNvPr>
          <p:cNvSpPr>
            <a:spLocks noGrp="1"/>
          </p:cNvSpPr>
          <p:nvPr>
            <p:ph type="ftr" sz="quarter" idx="11"/>
          </p:nvPr>
        </p:nvSpPr>
        <p:spPr/>
        <p:txBody>
          <a:bodyPr/>
          <a:lstStyle/>
          <a:p>
            <a:endParaRPr lang="en-US" dirty="0"/>
          </a:p>
        </p:txBody>
      </p:sp>
      <p:sp>
        <p:nvSpPr>
          <p:cNvPr id="6" name="عنصر نائب لرقم الشريحة 5">
            <a:extLst>
              <a:ext uri="{FF2B5EF4-FFF2-40B4-BE49-F238E27FC236}">
                <a16:creationId xmlns:a16="http://schemas.microsoft.com/office/drawing/2014/main" id="{2992293D-71C2-4E7E-A946-C4C50F229339}"/>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5572771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8BA5CD6-C577-4238-9D33-9A63ACABAAAF}"/>
              </a:ext>
            </a:extLst>
          </p:cNvPr>
          <p:cNvSpPr>
            <a:spLocks noGrp="1"/>
          </p:cNvSpPr>
          <p:nvPr>
            <p:ph type="title"/>
          </p:nvPr>
        </p:nvSpPr>
        <p:spPr/>
        <p:txBody>
          <a:bodyPr/>
          <a:lstStyle/>
          <a:p>
            <a:r>
              <a:rPr lang="ar-SA"/>
              <a:t>انقر لتحرير نمط عنوان الشكل الرئيسي</a:t>
            </a:r>
            <a:endParaRPr lang="ar-PS"/>
          </a:p>
        </p:txBody>
      </p:sp>
      <p:sp>
        <p:nvSpPr>
          <p:cNvPr id="3" name="عنصر نائب للمحتوى 2">
            <a:extLst>
              <a:ext uri="{FF2B5EF4-FFF2-40B4-BE49-F238E27FC236}">
                <a16:creationId xmlns:a16="http://schemas.microsoft.com/office/drawing/2014/main" id="{41402F6B-7D64-4FB9-BA7F-F87FE3ACCA03}"/>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4" name="عنصر نائب للمحتوى 3">
            <a:extLst>
              <a:ext uri="{FF2B5EF4-FFF2-40B4-BE49-F238E27FC236}">
                <a16:creationId xmlns:a16="http://schemas.microsoft.com/office/drawing/2014/main" id="{60C13047-BBEF-4A3E-A7EF-6B469B23EBD3}"/>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5" name="عنصر نائب للتاريخ 4">
            <a:extLst>
              <a:ext uri="{FF2B5EF4-FFF2-40B4-BE49-F238E27FC236}">
                <a16:creationId xmlns:a16="http://schemas.microsoft.com/office/drawing/2014/main" id="{46A519D0-9DD4-481C-8A3F-1A41199F5A0A}"/>
              </a:ext>
            </a:extLst>
          </p:cNvPr>
          <p:cNvSpPr>
            <a:spLocks noGrp="1"/>
          </p:cNvSpPr>
          <p:nvPr>
            <p:ph type="dt" sz="half" idx="10"/>
          </p:nvPr>
        </p:nvSpPr>
        <p:spPr/>
        <p:txBody>
          <a:bodyPr/>
          <a:lstStyle/>
          <a:p>
            <a:fld id="{19AB4D41-86C1-4908-B66A-0B50CEB3BF29}" type="datetimeFigureOut">
              <a:rPr lang="en-US" smtClean="0"/>
              <a:t>6/10/2026</a:t>
            </a:fld>
            <a:endParaRPr lang="en-US" dirty="0"/>
          </a:p>
        </p:txBody>
      </p:sp>
      <p:sp>
        <p:nvSpPr>
          <p:cNvPr id="6" name="عنصر نائب للتذييل 5">
            <a:extLst>
              <a:ext uri="{FF2B5EF4-FFF2-40B4-BE49-F238E27FC236}">
                <a16:creationId xmlns:a16="http://schemas.microsoft.com/office/drawing/2014/main" id="{9F59FE3B-B389-4246-A021-6659DA388EA0}"/>
              </a:ext>
            </a:extLst>
          </p:cNvPr>
          <p:cNvSpPr>
            <a:spLocks noGrp="1"/>
          </p:cNvSpPr>
          <p:nvPr>
            <p:ph type="ftr" sz="quarter" idx="11"/>
          </p:nvPr>
        </p:nvSpPr>
        <p:spPr/>
        <p:txBody>
          <a:bodyPr/>
          <a:lstStyle/>
          <a:p>
            <a:endParaRPr lang="en-US" dirty="0"/>
          </a:p>
        </p:txBody>
      </p:sp>
      <p:sp>
        <p:nvSpPr>
          <p:cNvPr id="7" name="عنصر نائب لرقم الشريحة 6">
            <a:extLst>
              <a:ext uri="{FF2B5EF4-FFF2-40B4-BE49-F238E27FC236}">
                <a16:creationId xmlns:a16="http://schemas.microsoft.com/office/drawing/2014/main" id="{8A391617-5B05-4C77-B880-908569D4F38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830016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B9EF265-1422-4DBC-A026-F1CD1095779D}"/>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endParaRPr lang="ar-PS"/>
          </a:p>
        </p:txBody>
      </p:sp>
      <p:sp>
        <p:nvSpPr>
          <p:cNvPr id="3" name="عنصر نائب للنص 2">
            <a:extLst>
              <a:ext uri="{FF2B5EF4-FFF2-40B4-BE49-F238E27FC236}">
                <a16:creationId xmlns:a16="http://schemas.microsoft.com/office/drawing/2014/main" id="{271D94A3-D166-49EC-A1A7-9FA0A63DF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79581705-747C-4308-9123-C58AB99BBB8B}"/>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5" name="عنصر نائب للنص 4">
            <a:extLst>
              <a:ext uri="{FF2B5EF4-FFF2-40B4-BE49-F238E27FC236}">
                <a16:creationId xmlns:a16="http://schemas.microsoft.com/office/drawing/2014/main" id="{59F8C88D-E051-4559-9CC6-65C2618959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FCD69AD9-B076-4848-A23F-849A53225536}"/>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7" name="عنصر نائب للتاريخ 6">
            <a:extLst>
              <a:ext uri="{FF2B5EF4-FFF2-40B4-BE49-F238E27FC236}">
                <a16:creationId xmlns:a16="http://schemas.microsoft.com/office/drawing/2014/main" id="{CCB0D678-EF68-4CB9-94AF-E57DD5D4AAF2}"/>
              </a:ext>
            </a:extLst>
          </p:cNvPr>
          <p:cNvSpPr>
            <a:spLocks noGrp="1"/>
          </p:cNvSpPr>
          <p:nvPr>
            <p:ph type="dt" sz="half" idx="10"/>
          </p:nvPr>
        </p:nvSpPr>
        <p:spPr/>
        <p:txBody>
          <a:bodyPr/>
          <a:lstStyle/>
          <a:p>
            <a:fld id="{E6426E2C-56C1-4E0D-A793-0088A7FDD37E}" type="datetimeFigureOut">
              <a:rPr lang="en-US" smtClean="0"/>
              <a:t>6/10/2026</a:t>
            </a:fld>
            <a:endParaRPr lang="en-US" dirty="0"/>
          </a:p>
        </p:txBody>
      </p:sp>
      <p:sp>
        <p:nvSpPr>
          <p:cNvPr id="8" name="عنصر نائب للتذييل 7">
            <a:extLst>
              <a:ext uri="{FF2B5EF4-FFF2-40B4-BE49-F238E27FC236}">
                <a16:creationId xmlns:a16="http://schemas.microsoft.com/office/drawing/2014/main" id="{424C20B3-1DE7-4935-A754-2B8AB437E69B}"/>
              </a:ext>
            </a:extLst>
          </p:cNvPr>
          <p:cNvSpPr>
            <a:spLocks noGrp="1"/>
          </p:cNvSpPr>
          <p:nvPr>
            <p:ph type="ftr" sz="quarter" idx="11"/>
          </p:nvPr>
        </p:nvSpPr>
        <p:spPr/>
        <p:txBody>
          <a:bodyPr/>
          <a:lstStyle/>
          <a:p>
            <a:endParaRPr lang="en-US" dirty="0"/>
          </a:p>
        </p:txBody>
      </p:sp>
      <p:sp>
        <p:nvSpPr>
          <p:cNvPr id="9" name="عنصر نائب لرقم الشريحة 8">
            <a:extLst>
              <a:ext uri="{FF2B5EF4-FFF2-40B4-BE49-F238E27FC236}">
                <a16:creationId xmlns:a16="http://schemas.microsoft.com/office/drawing/2014/main" id="{AF20C725-7CBF-47E9-9254-9532361BCD4E}"/>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6353552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2E133F8-90F8-49D8-8EB2-97F35C881290}"/>
              </a:ext>
            </a:extLst>
          </p:cNvPr>
          <p:cNvSpPr>
            <a:spLocks noGrp="1"/>
          </p:cNvSpPr>
          <p:nvPr>
            <p:ph type="title"/>
          </p:nvPr>
        </p:nvSpPr>
        <p:spPr/>
        <p:txBody>
          <a:bodyPr/>
          <a:lstStyle/>
          <a:p>
            <a:r>
              <a:rPr lang="ar-SA"/>
              <a:t>انقر لتحرير نمط عنوان الشكل الرئيسي</a:t>
            </a:r>
            <a:endParaRPr lang="ar-PS"/>
          </a:p>
        </p:txBody>
      </p:sp>
      <p:sp>
        <p:nvSpPr>
          <p:cNvPr id="3" name="عنصر نائب للتاريخ 2">
            <a:extLst>
              <a:ext uri="{FF2B5EF4-FFF2-40B4-BE49-F238E27FC236}">
                <a16:creationId xmlns:a16="http://schemas.microsoft.com/office/drawing/2014/main" id="{FA5313D8-4B33-43F8-8761-E31CCA198E9E}"/>
              </a:ext>
            </a:extLst>
          </p:cNvPr>
          <p:cNvSpPr>
            <a:spLocks noGrp="1"/>
          </p:cNvSpPr>
          <p:nvPr>
            <p:ph type="dt" sz="half" idx="10"/>
          </p:nvPr>
        </p:nvSpPr>
        <p:spPr/>
        <p:txBody>
          <a:bodyPr/>
          <a:lstStyle/>
          <a:p>
            <a:fld id="{C8C39B41-D8B5-4052-B551-9B5525EAA8B6}" type="datetimeFigureOut">
              <a:rPr lang="en-US" smtClean="0"/>
              <a:t>6/10/2026</a:t>
            </a:fld>
            <a:endParaRPr lang="en-US" dirty="0"/>
          </a:p>
        </p:txBody>
      </p:sp>
      <p:sp>
        <p:nvSpPr>
          <p:cNvPr id="4" name="عنصر نائب للتذييل 3">
            <a:extLst>
              <a:ext uri="{FF2B5EF4-FFF2-40B4-BE49-F238E27FC236}">
                <a16:creationId xmlns:a16="http://schemas.microsoft.com/office/drawing/2014/main" id="{2D7EB370-0762-4CDA-931D-6B6FC56F9CBF}"/>
              </a:ext>
            </a:extLst>
          </p:cNvPr>
          <p:cNvSpPr>
            <a:spLocks noGrp="1"/>
          </p:cNvSpPr>
          <p:nvPr>
            <p:ph type="ftr" sz="quarter" idx="11"/>
          </p:nvPr>
        </p:nvSpPr>
        <p:spPr/>
        <p:txBody>
          <a:bodyPr/>
          <a:lstStyle/>
          <a:p>
            <a:endParaRPr lang="en-US" dirty="0"/>
          </a:p>
        </p:txBody>
      </p:sp>
      <p:sp>
        <p:nvSpPr>
          <p:cNvPr id="5" name="عنصر نائب لرقم الشريحة 4">
            <a:extLst>
              <a:ext uri="{FF2B5EF4-FFF2-40B4-BE49-F238E27FC236}">
                <a16:creationId xmlns:a16="http://schemas.microsoft.com/office/drawing/2014/main" id="{29D68E78-6310-45D1-96B7-B86F30F9C16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705052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0745E58C-9CAD-4AF8-9943-C5447FB5DE79}"/>
              </a:ext>
            </a:extLst>
          </p:cNvPr>
          <p:cNvSpPr>
            <a:spLocks noGrp="1"/>
          </p:cNvSpPr>
          <p:nvPr>
            <p:ph type="dt" sz="half" idx="10"/>
          </p:nvPr>
        </p:nvSpPr>
        <p:spPr/>
        <p:txBody>
          <a:bodyPr/>
          <a:lstStyle/>
          <a:p>
            <a:fld id="{4D94136C-8742-45B2-AF27-D93DF72833A9}" type="datetimeFigureOut">
              <a:rPr lang="en-US" smtClean="0"/>
              <a:t>6/10/2026</a:t>
            </a:fld>
            <a:endParaRPr lang="en-US" dirty="0"/>
          </a:p>
        </p:txBody>
      </p:sp>
      <p:sp>
        <p:nvSpPr>
          <p:cNvPr id="3" name="عنصر نائب للتذييل 2">
            <a:extLst>
              <a:ext uri="{FF2B5EF4-FFF2-40B4-BE49-F238E27FC236}">
                <a16:creationId xmlns:a16="http://schemas.microsoft.com/office/drawing/2014/main" id="{4AE1B3F2-5CB7-4E2B-850B-A144D62DBC6C}"/>
              </a:ext>
            </a:extLst>
          </p:cNvPr>
          <p:cNvSpPr>
            <a:spLocks noGrp="1"/>
          </p:cNvSpPr>
          <p:nvPr>
            <p:ph type="ftr" sz="quarter" idx="11"/>
          </p:nvPr>
        </p:nvSpPr>
        <p:spPr/>
        <p:txBody>
          <a:bodyPr/>
          <a:lstStyle/>
          <a:p>
            <a:endParaRPr lang="en-US" dirty="0"/>
          </a:p>
        </p:txBody>
      </p:sp>
      <p:sp>
        <p:nvSpPr>
          <p:cNvPr id="4" name="عنصر نائب لرقم الشريحة 3">
            <a:extLst>
              <a:ext uri="{FF2B5EF4-FFF2-40B4-BE49-F238E27FC236}">
                <a16:creationId xmlns:a16="http://schemas.microsoft.com/office/drawing/2014/main" id="{CC4E2905-E665-4EFE-A560-48D784A414D1}"/>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0155923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2DAF1D3-CB19-4C73-AE90-3382A5298832}"/>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ar-PS"/>
          </a:p>
        </p:txBody>
      </p:sp>
      <p:sp>
        <p:nvSpPr>
          <p:cNvPr id="3" name="عنصر نائب للمحتوى 2">
            <a:extLst>
              <a:ext uri="{FF2B5EF4-FFF2-40B4-BE49-F238E27FC236}">
                <a16:creationId xmlns:a16="http://schemas.microsoft.com/office/drawing/2014/main" id="{4791056F-8891-4EFA-8B2D-DF7C3D6B7E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4" name="عنصر نائب للنص 3">
            <a:extLst>
              <a:ext uri="{FF2B5EF4-FFF2-40B4-BE49-F238E27FC236}">
                <a16:creationId xmlns:a16="http://schemas.microsoft.com/office/drawing/2014/main" id="{93C2243A-C23B-4E25-9A6C-C78EC983C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A34108C-8103-41B4-AD76-9E94618E2CAB}"/>
              </a:ext>
            </a:extLst>
          </p:cNvPr>
          <p:cNvSpPr>
            <a:spLocks noGrp="1"/>
          </p:cNvSpPr>
          <p:nvPr>
            <p:ph type="dt" sz="half" idx="10"/>
          </p:nvPr>
        </p:nvSpPr>
        <p:spPr/>
        <p:txBody>
          <a:bodyPr/>
          <a:lstStyle/>
          <a:p>
            <a:fld id="{32ABBEA6-7C60-4B02-AE87-00D78D8422AF}" type="datetimeFigureOut">
              <a:rPr lang="en-US" smtClean="0"/>
              <a:t>6/10/2026</a:t>
            </a:fld>
            <a:endParaRPr lang="en-US" dirty="0"/>
          </a:p>
        </p:txBody>
      </p:sp>
      <p:sp>
        <p:nvSpPr>
          <p:cNvPr id="6" name="عنصر نائب للتذييل 5">
            <a:extLst>
              <a:ext uri="{FF2B5EF4-FFF2-40B4-BE49-F238E27FC236}">
                <a16:creationId xmlns:a16="http://schemas.microsoft.com/office/drawing/2014/main" id="{424CF478-0B24-4871-894F-A1C9D015054F}"/>
              </a:ext>
            </a:extLst>
          </p:cNvPr>
          <p:cNvSpPr>
            <a:spLocks noGrp="1"/>
          </p:cNvSpPr>
          <p:nvPr>
            <p:ph type="ftr" sz="quarter" idx="11"/>
          </p:nvPr>
        </p:nvSpPr>
        <p:spPr/>
        <p:txBody>
          <a:bodyPr/>
          <a:lstStyle/>
          <a:p>
            <a:endParaRPr lang="en-US" dirty="0"/>
          </a:p>
        </p:txBody>
      </p:sp>
      <p:sp>
        <p:nvSpPr>
          <p:cNvPr id="7" name="عنصر نائب لرقم الشريحة 6">
            <a:extLst>
              <a:ext uri="{FF2B5EF4-FFF2-40B4-BE49-F238E27FC236}">
                <a16:creationId xmlns:a16="http://schemas.microsoft.com/office/drawing/2014/main" id="{01FD78E7-636A-4DBD-8A02-38E9FB4D3D90}"/>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820272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EACD05D-DD41-4982-A1E4-EB9C7EB468B5}"/>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ar-PS"/>
          </a:p>
        </p:txBody>
      </p:sp>
      <p:sp>
        <p:nvSpPr>
          <p:cNvPr id="3" name="عنصر نائب للصورة 2">
            <a:extLst>
              <a:ext uri="{FF2B5EF4-FFF2-40B4-BE49-F238E27FC236}">
                <a16:creationId xmlns:a16="http://schemas.microsoft.com/office/drawing/2014/main" id="{86B84C9D-0D52-40AD-8B5A-A7327D5A46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PS"/>
          </a:p>
        </p:txBody>
      </p:sp>
      <p:sp>
        <p:nvSpPr>
          <p:cNvPr id="4" name="عنصر نائب للنص 3">
            <a:extLst>
              <a:ext uri="{FF2B5EF4-FFF2-40B4-BE49-F238E27FC236}">
                <a16:creationId xmlns:a16="http://schemas.microsoft.com/office/drawing/2014/main" id="{07CB02B3-7E9C-42D8-B46B-096E7B2C4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B6B39E0A-29CB-4720-B9E9-60974DA9929A}"/>
              </a:ext>
            </a:extLst>
          </p:cNvPr>
          <p:cNvSpPr>
            <a:spLocks noGrp="1"/>
          </p:cNvSpPr>
          <p:nvPr>
            <p:ph type="dt" sz="half" idx="10"/>
          </p:nvPr>
        </p:nvSpPr>
        <p:spPr/>
        <p:txBody>
          <a:bodyPr/>
          <a:lstStyle/>
          <a:p>
            <a:fld id="{C9CAD897-D46E-4AD2-BD9B-49DD3E640873}" type="datetimeFigureOut">
              <a:rPr lang="en-US" smtClean="0"/>
              <a:t>6/10/2026</a:t>
            </a:fld>
            <a:endParaRPr lang="en-US" dirty="0"/>
          </a:p>
        </p:txBody>
      </p:sp>
      <p:sp>
        <p:nvSpPr>
          <p:cNvPr id="6" name="عنصر نائب للتذييل 5">
            <a:extLst>
              <a:ext uri="{FF2B5EF4-FFF2-40B4-BE49-F238E27FC236}">
                <a16:creationId xmlns:a16="http://schemas.microsoft.com/office/drawing/2014/main" id="{65EDA055-E1C3-4ADA-8E56-763384EF2BE2}"/>
              </a:ext>
            </a:extLst>
          </p:cNvPr>
          <p:cNvSpPr>
            <a:spLocks noGrp="1"/>
          </p:cNvSpPr>
          <p:nvPr>
            <p:ph type="ftr" sz="quarter" idx="11"/>
          </p:nvPr>
        </p:nvSpPr>
        <p:spPr/>
        <p:txBody>
          <a:bodyPr/>
          <a:lstStyle/>
          <a:p>
            <a:endParaRPr lang="en-US" dirty="0"/>
          </a:p>
        </p:txBody>
      </p:sp>
      <p:sp>
        <p:nvSpPr>
          <p:cNvPr id="7" name="عنصر نائب لرقم الشريحة 6">
            <a:extLst>
              <a:ext uri="{FF2B5EF4-FFF2-40B4-BE49-F238E27FC236}">
                <a16:creationId xmlns:a16="http://schemas.microsoft.com/office/drawing/2014/main" id="{DFC29829-C3E3-41CD-AD98-10B93E3A01FE}"/>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9286800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3E8C3CB-57C8-45FF-AB96-643FE28D796C}"/>
              </a:ext>
            </a:extLst>
          </p:cNvPr>
          <p:cNvSpPr>
            <a:spLocks noGrp="1"/>
          </p:cNvSpPr>
          <p:nvPr>
            <p:ph type="title"/>
          </p:nvPr>
        </p:nvSpPr>
        <p:spPr/>
        <p:txBody>
          <a:bodyPr/>
          <a:lstStyle/>
          <a:p>
            <a:r>
              <a:rPr lang="ar-SA"/>
              <a:t>انقر لتحرير نمط عنوان الشكل الرئيسي</a:t>
            </a:r>
            <a:endParaRPr lang="ar-PS"/>
          </a:p>
        </p:txBody>
      </p:sp>
      <p:sp>
        <p:nvSpPr>
          <p:cNvPr id="3" name="عنصر نائب للعنوان العمودي 2">
            <a:extLst>
              <a:ext uri="{FF2B5EF4-FFF2-40B4-BE49-F238E27FC236}">
                <a16:creationId xmlns:a16="http://schemas.microsoft.com/office/drawing/2014/main" id="{3DF74549-6839-4A4F-8BC1-4B8CD819E513}"/>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4" name="عنصر نائب للتاريخ 3">
            <a:extLst>
              <a:ext uri="{FF2B5EF4-FFF2-40B4-BE49-F238E27FC236}">
                <a16:creationId xmlns:a16="http://schemas.microsoft.com/office/drawing/2014/main" id="{47DB691C-2C1D-4D15-8BB5-74590F6E2E3E}"/>
              </a:ext>
            </a:extLst>
          </p:cNvPr>
          <p:cNvSpPr>
            <a:spLocks noGrp="1"/>
          </p:cNvSpPr>
          <p:nvPr>
            <p:ph type="dt" sz="half" idx="10"/>
          </p:nvPr>
        </p:nvSpPr>
        <p:spPr/>
        <p:txBody>
          <a:bodyPr/>
          <a:lstStyle/>
          <a:p>
            <a:fld id="{2E2D6473-DF6D-4702-B328-E0DD40540A4E}" type="datetimeFigureOut">
              <a:rPr lang="en-US" smtClean="0"/>
              <a:t>6/10/2026</a:t>
            </a:fld>
            <a:endParaRPr lang="en-US" dirty="0"/>
          </a:p>
        </p:txBody>
      </p:sp>
      <p:sp>
        <p:nvSpPr>
          <p:cNvPr id="5" name="عنصر نائب للتذييل 4">
            <a:extLst>
              <a:ext uri="{FF2B5EF4-FFF2-40B4-BE49-F238E27FC236}">
                <a16:creationId xmlns:a16="http://schemas.microsoft.com/office/drawing/2014/main" id="{D2B58314-E0D5-40A7-9F94-53C2D111E9F7}"/>
              </a:ext>
            </a:extLst>
          </p:cNvPr>
          <p:cNvSpPr>
            <a:spLocks noGrp="1"/>
          </p:cNvSpPr>
          <p:nvPr>
            <p:ph type="ftr" sz="quarter" idx="11"/>
          </p:nvPr>
        </p:nvSpPr>
        <p:spPr/>
        <p:txBody>
          <a:bodyPr/>
          <a:lstStyle/>
          <a:p>
            <a:endParaRPr lang="en-US" dirty="0"/>
          </a:p>
        </p:txBody>
      </p:sp>
      <p:sp>
        <p:nvSpPr>
          <p:cNvPr id="6" name="عنصر نائب لرقم الشريحة 5">
            <a:extLst>
              <a:ext uri="{FF2B5EF4-FFF2-40B4-BE49-F238E27FC236}">
                <a16:creationId xmlns:a16="http://schemas.microsoft.com/office/drawing/2014/main" id="{CA78AB58-19E3-4622-B910-6217994889E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8116137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DF3DD358-1800-430B-8975-E4505F0C2F64}"/>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endParaRPr lang="ar-PS"/>
          </a:p>
        </p:txBody>
      </p:sp>
      <p:sp>
        <p:nvSpPr>
          <p:cNvPr id="3" name="عنصر نائب للعنوان العمودي 2">
            <a:extLst>
              <a:ext uri="{FF2B5EF4-FFF2-40B4-BE49-F238E27FC236}">
                <a16:creationId xmlns:a16="http://schemas.microsoft.com/office/drawing/2014/main" id="{78856DE7-2463-41A2-B98A-E5E72AC4E0AD}"/>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4" name="عنصر نائب للتاريخ 3">
            <a:extLst>
              <a:ext uri="{FF2B5EF4-FFF2-40B4-BE49-F238E27FC236}">
                <a16:creationId xmlns:a16="http://schemas.microsoft.com/office/drawing/2014/main" id="{D122ADB9-5333-4D36-A357-37AFEC45088A}"/>
              </a:ext>
            </a:extLst>
          </p:cNvPr>
          <p:cNvSpPr>
            <a:spLocks noGrp="1"/>
          </p:cNvSpPr>
          <p:nvPr>
            <p:ph type="dt" sz="half" idx="10"/>
          </p:nvPr>
        </p:nvSpPr>
        <p:spPr/>
        <p:txBody>
          <a:bodyPr/>
          <a:lstStyle/>
          <a:p>
            <a:fld id="{E26F7E3A-B166-407D-9866-32884E7D5B37}" type="datetimeFigureOut">
              <a:rPr lang="en-US" smtClean="0"/>
              <a:t>6/10/2026</a:t>
            </a:fld>
            <a:endParaRPr lang="en-US" dirty="0"/>
          </a:p>
        </p:txBody>
      </p:sp>
      <p:sp>
        <p:nvSpPr>
          <p:cNvPr id="5" name="عنصر نائب للتذييل 4">
            <a:extLst>
              <a:ext uri="{FF2B5EF4-FFF2-40B4-BE49-F238E27FC236}">
                <a16:creationId xmlns:a16="http://schemas.microsoft.com/office/drawing/2014/main" id="{1D64E9A4-5219-4284-A34B-510BFF9F565C}"/>
              </a:ext>
            </a:extLst>
          </p:cNvPr>
          <p:cNvSpPr>
            <a:spLocks noGrp="1"/>
          </p:cNvSpPr>
          <p:nvPr>
            <p:ph type="ftr" sz="quarter" idx="11"/>
          </p:nvPr>
        </p:nvSpPr>
        <p:spPr/>
        <p:txBody>
          <a:bodyPr/>
          <a:lstStyle/>
          <a:p>
            <a:endParaRPr lang="en-US" dirty="0"/>
          </a:p>
        </p:txBody>
      </p:sp>
      <p:sp>
        <p:nvSpPr>
          <p:cNvPr id="6" name="عنصر نائب لرقم الشريحة 5">
            <a:extLst>
              <a:ext uri="{FF2B5EF4-FFF2-40B4-BE49-F238E27FC236}">
                <a16:creationId xmlns:a16="http://schemas.microsoft.com/office/drawing/2014/main" id="{13283B91-4B33-4703-94B2-49DEBE2E0937}"/>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823270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9007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126DC692-0D6F-4BA9-81E8-F58D3D8E3436}"/>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endParaRPr lang="ar-PS"/>
          </a:p>
        </p:txBody>
      </p:sp>
      <p:sp>
        <p:nvSpPr>
          <p:cNvPr id="3" name="عنصر نائب للنص 2">
            <a:extLst>
              <a:ext uri="{FF2B5EF4-FFF2-40B4-BE49-F238E27FC236}">
                <a16:creationId xmlns:a16="http://schemas.microsoft.com/office/drawing/2014/main" id="{7AFC89FE-2AF9-422F-84F4-341F87C12A2E}"/>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PS"/>
          </a:p>
        </p:txBody>
      </p:sp>
      <p:sp>
        <p:nvSpPr>
          <p:cNvPr id="4" name="عنصر نائب للتاريخ 3">
            <a:extLst>
              <a:ext uri="{FF2B5EF4-FFF2-40B4-BE49-F238E27FC236}">
                <a16:creationId xmlns:a16="http://schemas.microsoft.com/office/drawing/2014/main" id="{C1147D05-C129-42A4-BC9E-FD28A47200D2}"/>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98624D31-43A5-475A-80CF-332C9F6DCF35}" type="datetimeFigureOut">
              <a:rPr lang="en-US" smtClean="0"/>
              <a:t>6/10/2026</a:t>
            </a:fld>
            <a:endParaRPr lang="en-US" dirty="0"/>
          </a:p>
        </p:txBody>
      </p:sp>
      <p:sp>
        <p:nvSpPr>
          <p:cNvPr id="5" name="عنصر نائب للتذييل 4">
            <a:extLst>
              <a:ext uri="{FF2B5EF4-FFF2-40B4-BE49-F238E27FC236}">
                <a16:creationId xmlns:a16="http://schemas.microsoft.com/office/drawing/2014/main" id="{6C54D109-BDBC-4573-A566-1921A994D6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dirty="0"/>
          </a:p>
        </p:txBody>
      </p:sp>
      <p:sp>
        <p:nvSpPr>
          <p:cNvPr id="6" name="عنصر نائب لرقم الشريحة 5">
            <a:extLst>
              <a:ext uri="{FF2B5EF4-FFF2-40B4-BE49-F238E27FC236}">
                <a16:creationId xmlns:a16="http://schemas.microsoft.com/office/drawing/2014/main" id="{6B3511A1-93CB-4438-8AC7-82083B8A281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64693009"/>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P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2B705"/>
          </a:solidFill>
          <a:ln/>
        </p:spPr>
      </p:sp>
      <p:sp>
        <p:nvSpPr>
          <p:cNvPr id="3" name="Shape 1"/>
          <p:cNvSpPr/>
          <p:nvPr/>
        </p:nvSpPr>
        <p:spPr>
          <a:xfrm>
            <a:off x="9692640" y="-1828800"/>
            <a:ext cx="5029200" cy="5029200"/>
          </a:xfrm>
          <a:prstGeom prst="ellipse">
            <a:avLst/>
          </a:prstGeom>
          <a:solidFill>
            <a:srgbClr val="162050"/>
          </a:solidFill>
          <a:ln/>
        </p:spPr>
      </p:sp>
      <p:sp>
        <p:nvSpPr>
          <p:cNvPr id="4" name="Shape 2"/>
          <p:cNvSpPr/>
          <p:nvPr/>
        </p:nvSpPr>
        <p:spPr>
          <a:xfrm>
            <a:off x="10607040" y="3840480"/>
            <a:ext cx="4114800" cy="4114800"/>
          </a:xfrm>
          <a:prstGeom prst="ellipse">
            <a:avLst/>
          </a:prstGeom>
          <a:solidFill>
            <a:srgbClr val="243072"/>
          </a:solidFill>
          <a:ln/>
        </p:spPr>
      </p:sp>
      <p:sp>
        <p:nvSpPr>
          <p:cNvPr id="5" name="Text 3"/>
          <p:cNvSpPr/>
          <p:nvPr/>
        </p:nvSpPr>
        <p:spPr>
          <a:xfrm>
            <a:off x="548640" y="1920240"/>
            <a:ext cx="10789920" cy="1005840"/>
          </a:xfrm>
          <a:prstGeom prst="rect">
            <a:avLst/>
          </a:prstGeom>
          <a:noFill/>
          <a:ln/>
        </p:spPr>
        <p:txBody>
          <a:bodyPr wrap="square" rtlCol="0" anchor="ctr"/>
          <a:lstStyle/>
          <a:p>
            <a:pPr marL="0" indent="0" algn="r" rtl="1">
              <a:buNone/>
            </a:pPr>
            <a:r>
              <a:rPr lang="en-US" sz="4600" b="1" dirty="0" err="1">
                <a:solidFill>
                  <a:srgbClr val="FFFFFF"/>
                </a:solidFill>
                <a:latin typeface="Arial" pitchFamily="34" charset="0"/>
                <a:ea typeface="Arial" pitchFamily="34" charset="-122"/>
                <a:cs typeface="Arial" pitchFamily="34" charset="-120"/>
              </a:rPr>
              <a:t>مشروع</a:t>
            </a:r>
            <a:r>
              <a:rPr lang="ar-PS" sz="4600" b="1" dirty="0">
                <a:solidFill>
                  <a:srgbClr val="FFFFFF"/>
                </a:solidFill>
                <a:latin typeface="Arial" pitchFamily="34" charset="0"/>
                <a:ea typeface="Arial" pitchFamily="34" charset="-122"/>
                <a:cs typeface="Arial" pitchFamily="34" charset="-120"/>
              </a:rPr>
              <a:t> مساق </a:t>
            </a:r>
            <a:r>
              <a:rPr lang="en-US" sz="4600" b="1" dirty="0">
                <a:solidFill>
                  <a:srgbClr val="FFFFFF"/>
                </a:solidFill>
                <a:latin typeface="Arial" pitchFamily="34" charset="0"/>
                <a:ea typeface="Arial" pitchFamily="34" charset="-122"/>
                <a:cs typeface="Arial" pitchFamily="34" charset="-120"/>
              </a:rPr>
              <a:t> الذكاء الاصطناعي</a:t>
            </a:r>
            <a:endParaRPr lang="en-US" sz="4600" dirty="0"/>
          </a:p>
        </p:txBody>
      </p:sp>
      <p:sp>
        <p:nvSpPr>
          <p:cNvPr id="6" name="Text 4"/>
          <p:cNvSpPr/>
          <p:nvPr/>
        </p:nvSpPr>
        <p:spPr>
          <a:xfrm>
            <a:off x="548640" y="2971800"/>
            <a:ext cx="10789920" cy="731520"/>
          </a:xfrm>
          <a:prstGeom prst="rect">
            <a:avLst/>
          </a:prstGeom>
          <a:noFill/>
          <a:ln/>
        </p:spPr>
        <p:txBody>
          <a:bodyPr wrap="square" rtlCol="0" anchor="ctr"/>
          <a:lstStyle/>
          <a:p>
            <a:pPr marL="0" indent="0" algn="r" rtl="1">
              <a:buNone/>
            </a:pPr>
            <a:r>
              <a:rPr lang="en-US" sz="2400" dirty="0">
                <a:solidFill>
                  <a:srgbClr val="CADCFC"/>
                </a:solidFill>
                <a:latin typeface="Arial" pitchFamily="34" charset="0"/>
                <a:ea typeface="Arial" pitchFamily="34" charset="-122"/>
                <a:cs typeface="Arial" pitchFamily="34" charset="-120"/>
              </a:rPr>
              <a:t>بناء وتقييم نماذج تصنيف للأنظمة الذكية والحوسبة المتنقلة</a:t>
            </a:r>
            <a:endParaRPr lang="en-US" sz="2400" dirty="0"/>
          </a:p>
        </p:txBody>
      </p:sp>
      <p:sp>
        <p:nvSpPr>
          <p:cNvPr id="7" name="Text 5"/>
          <p:cNvSpPr/>
          <p:nvPr/>
        </p:nvSpPr>
        <p:spPr>
          <a:xfrm>
            <a:off x="548640" y="3749040"/>
            <a:ext cx="10789920" cy="548640"/>
          </a:xfrm>
          <a:prstGeom prst="rect">
            <a:avLst/>
          </a:prstGeom>
          <a:noFill/>
          <a:ln/>
        </p:spPr>
        <p:txBody>
          <a:bodyPr wrap="square" rtlCol="0" anchor="ctr"/>
          <a:lstStyle/>
          <a:p>
            <a:pPr marL="0" indent="0" algn="r" rtl="1">
              <a:buNone/>
            </a:pPr>
            <a:r>
              <a:rPr lang="en-US" sz="1700" dirty="0">
                <a:solidFill>
                  <a:srgbClr val="9FB4E8"/>
                </a:solidFill>
                <a:latin typeface="Arial" pitchFamily="34" charset="0"/>
                <a:ea typeface="Arial" pitchFamily="34" charset="-122"/>
                <a:cs typeface="Arial" pitchFamily="34" charset="-120"/>
              </a:rPr>
              <a:t>توقّع </a:t>
            </a:r>
            <a:r>
              <a:rPr lang="en-US" sz="1700" dirty="0" err="1">
                <a:solidFill>
                  <a:srgbClr val="9FB4E8"/>
                </a:solidFill>
                <a:latin typeface="Arial" pitchFamily="34" charset="0"/>
                <a:ea typeface="Arial" pitchFamily="34" charset="-122"/>
                <a:cs typeface="Arial" pitchFamily="34" charset="-120"/>
              </a:rPr>
              <a:t>تحوّل</a:t>
            </a:r>
            <a:r>
              <a:rPr lang="en-US" sz="1700" dirty="0">
                <a:solidFill>
                  <a:srgbClr val="9FB4E8"/>
                </a:solidFill>
                <a:latin typeface="Arial" pitchFamily="34" charset="0"/>
                <a:ea typeface="Arial" pitchFamily="34" charset="-122"/>
                <a:cs typeface="Arial" pitchFamily="34" charset="-120"/>
              </a:rPr>
              <a:t> </a:t>
            </a:r>
            <a:r>
              <a:rPr lang="en-US" sz="1700" dirty="0" err="1">
                <a:solidFill>
                  <a:srgbClr val="9FB4E8"/>
                </a:solidFill>
                <a:latin typeface="Arial" pitchFamily="34" charset="0"/>
                <a:ea typeface="Arial" pitchFamily="34" charset="-122"/>
                <a:cs typeface="Arial" pitchFamily="34" charset="-120"/>
              </a:rPr>
              <a:t>المستخدم</a:t>
            </a:r>
            <a:r>
              <a:rPr lang="en-US" sz="1700" dirty="0">
                <a:solidFill>
                  <a:srgbClr val="9FB4E8"/>
                </a:solidFill>
                <a:latin typeface="Arial" pitchFamily="34" charset="0"/>
                <a:ea typeface="Arial" pitchFamily="34" charset="-122"/>
                <a:cs typeface="Arial" pitchFamily="34" charset="-120"/>
              </a:rPr>
              <a:t>(Conversions) من بيانات الحملات الإعلانية</a:t>
            </a:r>
            <a:endParaRPr lang="en-US" sz="1700" dirty="0"/>
          </a:p>
        </p:txBody>
      </p:sp>
      <p:sp>
        <p:nvSpPr>
          <p:cNvPr id="8" name="Shape 6"/>
          <p:cNvSpPr/>
          <p:nvPr/>
        </p:nvSpPr>
        <p:spPr>
          <a:xfrm>
            <a:off x="7772400" y="4754880"/>
            <a:ext cx="3566160" cy="0"/>
          </a:xfrm>
          <a:prstGeom prst="line">
            <a:avLst/>
          </a:prstGeom>
          <a:noFill/>
          <a:ln w="25400">
            <a:solidFill>
              <a:srgbClr val="F2B705"/>
            </a:solidFill>
            <a:prstDash val="solid"/>
          </a:ln>
        </p:spPr>
      </p:sp>
      <p:sp>
        <p:nvSpPr>
          <p:cNvPr id="9" name="Text 7"/>
          <p:cNvSpPr/>
          <p:nvPr/>
        </p:nvSpPr>
        <p:spPr>
          <a:xfrm>
            <a:off x="548640" y="4723217"/>
            <a:ext cx="10789920" cy="457200"/>
          </a:xfrm>
          <a:prstGeom prst="rect">
            <a:avLst/>
          </a:prstGeom>
          <a:noFill/>
          <a:ln/>
        </p:spPr>
        <p:txBody>
          <a:bodyPr wrap="square" rtlCol="0" anchor="ctr"/>
          <a:lstStyle/>
          <a:p>
            <a:pPr marL="0" indent="0" algn="r">
              <a:buNone/>
            </a:pPr>
            <a:r>
              <a:rPr lang="en-US" sz="1500" dirty="0">
                <a:solidFill>
                  <a:srgbClr val="CADCFC"/>
                </a:solidFill>
                <a:latin typeface="Arial" pitchFamily="34" charset="0"/>
                <a:ea typeface="Arial" pitchFamily="34" charset="-122"/>
                <a:cs typeface="Arial" pitchFamily="34" charset="-120"/>
              </a:rPr>
              <a:t>SVM  •  Decision Tree  •  Random Forest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E2761"/>
          </a:solidFill>
          <a:ln/>
        </p:spPr>
      </p:sp>
      <p:sp>
        <p:nvSpPr>
          <p:cNvPr id="3" name="Text 1"/>
          <p:cNvSpPr/>
          <p:nvPr/>
        </p:nvSpPr>
        <p:spPr>
          <a:xfrm>
            <a:off x="548640" y="182880"/>
            <a:ext cx="11064240" cy="685800"/>
          </a:xfrm>
          <a:prstGeom prst="rect">
            <a:avLst/>
          </a:prstGeom>
          <a:noFill/>
          <a:ln/>
        </p:spPr>
        <p:txBody>
          <a:bodyPr wrap="square" rtlCol="0" anchor="ctr"/>
          <a:lstStyle/>
          <a:p>
            <a:pPr marL="0" indent="0" algn="r" rtl="1">
              <a:buNone/>
            </a:pPr>
            <a:r>
              <a:rPr lang="en-US" sz="3000" b="1" dirty="0">
                <a:solidFill>
                  <a:srgbClr val="FFFFFF"/>
                </a:solidFill>
                <a:latin typeface="Arial" pitchFamily="34" charset="0"/>
                <a:ea typeface="Arial" pitchFamily="34" charset="-122"/>
                <a:cs typeface="Arial" pitchFamily="34" charset="-120"/>
              </a:rPr>
              <a:t>نظرة عامة على المشروع</a:t>
            </a:r>
            <a:endParaRPr lang="en-US" sz="3000" dirty="0"/>
          </a:p>
        </p:txBody>
      </p:sp>
      <p:sp>
        <p:nvSpPr>
          <p:cNvPr id="4" name="Text 2"/>
          <p:cNvSpPr/>
          <p:nvPr/>
        </p:nvSpPr>
        <p:spPr>
          <a:xfrm>
            <a:off x="3108960" y="1417320"/>
            <a:ext cx="8503920" cy="1554480"/>
          </a:xfrm>
          <a:prstGeom prst="rect">
            <a:avLst/>
          </a:prstGeom>
          <a:noFill/>
          <a:ln/>
        </p:spPr>
        <p:txBody>
          <a:bodyPr wrap="square" rtlCol="0" anchor="t"/>
          <a:lstStyle/>
          <a:p>
            <a:pPr marL="0" indent="0" algn="r" rtl="1">
              <a:lnSpc>
                <a:spcPct val="130000"/>
              </a:lnSpc>
              <a:buNone/>
            </a:pPr>
            <a:r>
              <a:rPr lang="en-US" sz="1800" dirty="0">
                <a:solidFill>
                  <a:srgbClr val="5B6472"/>
                </a:solidFill>
                <a:latin typeface="Arial" pitchFamily="34" charset="0"/>
                <a:ea typeface="Arial" pitchFamily="34" charset="-122"/>
                <a:cs typeface="Arial" pitchFamily="34" charset="-120"/>
              </a:rPr>
              <a:t>يهدف المشروع إلى بناء وتشغيل كود متكامل لنموذج ذكاء اصطناعي يخدم الأنظمة الذكية والمتنقلة، من خلال توقّع ما إذا كان المستخدم سيتحوّل إلى مشترٍ بناءً على بيانات الحملة الإعلانية. </a:t>
            </a:r>
          </a:p>
          <a:p>
            <a:pPr marL="0" indent="0" algn="r" rtl="1">
              <a:lnSpc>
                <a:spcPct val="130000"/>
              </a:lnSpc>
              <a:buNone/>
            </a:pPr>
            <a:r>
              <a:rPr lang="en-US" sz="1800" dirty="0" err="1">
                <a:solidFill>
                  <a:srgbClr val="5B6472"/>
                </a:solidFill>
                <a:latin typeface="Arial" pitchFamily="34" charset="0"/>
                <a:ea typeface="Arial" pitchFamily="34" charset="-122"/>
                <a:cs typeface="Arial" pitchFamily="34" charset="-120"/>
              </a:rPr>
              <a:t>نُفّذ</a:t>
            </a:r>
            <a:r>
              <a:rPr lang="en-US" sz="1800" dirty="0">
                <a:solidFill>
                  <a:srgbClr val="5B6472"/>
                </a:solidFill>
                <a:latin typeface="Arial" pitchFamily="34" charset="0"/>
                <a:ea typeface="Arial" pitchFamily="34" charset="-122"/>
                <a:cs typeface="Arial" pitchFamily="34" charset="-120"/>
              </a:rPr>
              <a:t> </a:t>
            </a:r>
            <a:r>
              <a:rPr lang="en-US" sz="1800" dirty="0" err="1">
                <a:solidFill>
                  <a:srgbClr val="5B6472"/>
                </a:solidFill>
                <a:latin typeface="Arial" pitchFamily="34" charset="0"/>
                <a:ea typeface="Arial" pitchFamily="34" charset="-122"/>
                <a:cs typeface="Arial" pitchFamily="34" charset="-120"/>
              </a:rPr>
              <a:t>المشروع</a:t>
            </a:r>
            <a:r>
              <a:rPr lang="en-US" sz="1800" dirty="0">
                <a:solidFill>
                  <a:srgbClr val="5B6472"/>
                </a:solidFill>
                <a:latin typeface="Arial" pitchFamily="34" charset="0"/>
                <a:ea typeface="Arial" pitchFamily="34" charset="-122"/>
                <a:cs typeface="Arial" pitchFamily="34" charset="-120"/>
              </a:rPr>
              <a:t> </a:t>
            </a:r>
            <a:r>
              <a:rPr lang="en-US" sz="1800" dirty="0" err="1">
                <a:solidFill>
                  <a:srgbClr val="5B6472"/>
                </a:solidFill>
                <a:latin typeface="Arial" pitchFamily="34" charset="0"/>
                <a:ea typeface="Arial" pitchFamily="34" charset="-122"/>
                <a:cs typeface="Arial" pitchFamily="34" charset="-120"/>
              </a:rPr>
              <a:t>بلغة</a:t>
            </a:r>
            <a:r>
              <a:rPr lang="en-US" dirty="0">
                <a:solidFill>
                  <a:srgbClr val="5B6472"/>
                </a:solidFill>
                <a:latin typeface="Arial" pitchFamily="34" charset="0"/>
                <a:ea typeface="Arial" pitchFamily="34" charset="-122"/>
                <a:cs typeface="Arial" pitchFamily="34" charset="-120"/>
              </a:rPr>
              <a:t> </a:t>
            </a:r>
            <a:r>
              <a:rPr lang="en-US" sz="1800" dirty="0" err="1">
                <a:solidFill>
                  <a:srgbClr val="5B6472"/>
                </a:solidFill>
                <a:latin typeface="Arial" pitchFamily="34" charset="0"/>
                <a:ea typeface="Arial" pitchFamily="34" charset="-122"/>
                <a:cs typeface="Arial" pitchFamily="34" charset="-120"/>
              </a:rPr>
              <a:t>Pythonومكتبة</a:t>
            </a:r>
            <a:r>
              <a:rPr lang="en-US" sz="1800" dirty="0">
                <a:solidFill>
                  <a:srgbClr val="5B6472"/>
                </a:solidFill>
                <a:latin typeface="Arial" pitchFamily="34" charset="0"/>
                <a:ea typeface="Arial" pitchFamily="34" charset="-122"/>
                <a:cs typeface="Arial" pitchFamily="34" charset="-120"/>
              </a:rPr>
              <a:t> </a:t>
            </a:r>
            <a:r>
              <a:rPr lang="en-US" sz="1800" dirty="0" err="1">
                <a:solidFill>
                  <a:srgbClr val="5B6472"/>
                </a:solidFill>
                <a:latin typeface="Arial" pitchFamily="34" charset="0"/>
                <a:ea typeface="Arial" pitchFamily="34" charset="-122"/>
                <a:cs typeface="Arial" pitchFamily="34" charset="-120"/>
              </a:rPr>
              <a:t>scikit-learnمع</a:t>
            </a:r>
            <a:r>
              <a:rPr lang="en-US" sz="1800" dirty="0">
                <a:solidFill>
                  <a:srgbClr val="5B6472"/>
                </a:solidFill>
                <a:latin typeface="Arial" pitchFamily="34" charset="0"/>
                <a:ea typeface="Arial" pitchFamily="34" charset="-122"/>
                <a:cs typeface="Arial" pitchFamily="34" charset="-120"/>
              </a:rPr>
              <a:t> المقارنة بين ثلاث خوارزميات تصنيف لاختيار الأنسب للأجهزة المحمولة.</a:t>
            </a:r>
            <a:endParaRPr lang="en-US" sz="1800" dirty="0"/>
          </a:p>
        </p:txBody>
      </p:sp>
      <p:sp>
        <p:nvSpPr>
          <p:cNvPr id="5" name="Shape 3"/>
          <p:cNvSpPr/>
          <p:nvPr/>
        </p:nvSpPr>
        <p:spPr>
          <a:xfrm>
            <a:off x="548640" y="3291840"/>
            <a:ext cx="3474720" cy="1737360"/>
          </a:xfrm>
          <a:prstGeom prst="rect">
            <a:avLst/>
          </a:prstGeom>
          <a:solidFill>
            <a:srgbClr val="FFFFFF"/>
          </a:solidFill>
          <a:ln w="12700">
            <a:solidFill>
              <a:srgbClr val="E1E8F5"/>
            </a:solidFill>
            <a:prstDash val="solid"/>
          </a:ln>
          <a:effectLst>
            <a:outerShdw blurRad="101600" dist="25400" dir="5400000" algn="bl" rotWithShape="0">
              <a:srgbClr val="1E2761">
                <a:alpha val="10000"/>
              </a:srgbClr>
            </a:outerShdw>
          </a:effectLst>
        </p:spPr>
      </p:sp>
      <p:sp>
        <p:nvSpPr>
          <p:cNvPr id="6" name="Shape 4"/>
          <p:cNvSpPr/>
          <p:nvPr/>
        </p:nvSpPr>
        <p:spPr>
          <a:xfrm>
            <a:off x="548640" y="3291840"/>
            <a:ext cx="3474720" cy="109728"/>
          </a:xfrm>
          <a:prstGeom prst="rect">
            <a:avLst/>
          </a:prstGeom>
          <a:solidFill>
            <a:srgbClr val="3A6FF8"/>
          </a:solidFill>
          <a:ln/>
        </p:spPr>
      </p:sp>
      <p:sp>
        <p:nvSpPr>
          <p:cNvPr id="7" name="Text 5"/>
          <p:cNvSpPr/>
          <p:nvPr/>
        </p:nvSpPr>
        <p:spPr>
          <a:xfrm>
            <a:off x="731520" y="3703320"/>
            <a:ext cx="3108960" cy="640080"/>
          </a:xfrm>
          <a:prstGeom prst="rect">
            <a:avLst/>
          </a:prstGeom>
          <a:noFill/>
          <a:ln/>
        </p:spPr>
        <p:txBody>
          <a:bodyPr wrap="square" rtlCol="0" anchor="ctr"/>
          <a:lstStyle/>
          <a:p>
            <a:pPr marL="0" indent="0" algn="ctr" rtl="1">
              <a:buNone/>
            </a:pPr>
            <a:r>
              <a:rPr lang="en-US" sz="2100" b="1" dirty="0">
                <a:solidFill>
                  <a:srgbClr val="1E2761"/>
                </a:solidFill>
                <a:latin typeface="Arial" pitchFamily="34" charset="0"/>
                <a:ea typeface="Arial" pitchFamily="34" charset="-122"/>
                <a:cs typeface="Arial" pitchFamily="34" charset="-120"/>
              </a:rPr>
              <a:t>Python + scikit-learn</a:t>
            </a:r>
            <a:endParaRPr lang="en-US" sz="2100" dirty="0"/>
          </a:p>
        </p:txBody>
      </p:sp>
      <p:sp>
        <p:nvSpPr>
          <p:cNvPr id="8" name="Text 6"/>
          <p:cNvSpPr/>
          <p:nvPr/>
        </p:nvSpPr>
        <p:spPr>
          <a:xfrm>
            <a:off x="731520" y="4389120"/>
            <a:ext cx="3108960" cy="457200"/>
          </a:xfrm>
          <a:prstGeom prst="rect">
            <a:avLst/>
          </a:prstGeom>
          <a:noFill/>
          <a:ln/>
        </p:spPr>
        <p:txBody>
          <a:bodyPr wrap="square" rtlCol="0" anchor="ctr"/>
          <a:lstStyle/>
          <a:p>
            <a:pPr marL="0" indent="0" algn="ctr" rtl="1">
              <a:buNone/>
            </a:pPr>
            <a:r>
              <a:rPr lang="en-US" sz="1500" dirty="0">
                <a:solidFill>
                  <a:srgbClr val="5B6472"/>
                </a:solidFill>
                <a:latin typeface="Arial" pitchFamily="34" charset="0"/>
                <a:ea typeface="Arial" pitchFamily="34" charset="-122"/>
                <a:cs typeface="Arial" pitchFamily="34" charset="-120"/>
              </a:rPr>
              <a:t>بيئة التنفيذ</a:t>
            </a:r>
            <a:endParaRPr lang="en-US" sz="1500" dirty="0"/>
          </a:p>
        </p:txBody>
      </p:sp>
      <p:sp>
        <p:nvSpPr>
          <p:cNvPr id="9" name="Shape 7"/>
          <p:cNvSpPr/>
          <p:nvPr/>
        </p:nvSpPr>
        <p:spPr>
          <a:xfrm>
            <a:off x="4270248" y="3291840"/>
            <a:ext cx="3474720" cy="1737360"/>
          </a:xfrm>
          <a:prstGeom prst="rect">
            <a:avLst/>
          </a:prstGeom>
          <a:solidFill>
            <a:srgbClr val="FFFFFF"/>
          </a:solidFill>
          <a:ln w="12700">
            <a:solidFill>
              <a:srgbClr val="E1E8F5"/>
            </a:solidFill>
            <a:prstDash val="solid"/>
          </a:ln>
          <a:effectLst>
            <a:outerShdw blurRad="101600" dist="25400" dir="5400000" algn="bl" rotWithShape="0">
              <a:srgbClr val="1E2761">
                <a:alpha val="10000"/>
              </a:srgbClr>
            </a:outerShdw>
          </a:effectLst>
        </p:spPr>
      </p:sp>
      <p:sp>
        <p:nvSpPr>
          <p:cNvPr id="10" name="Shape 8"/>
          <p:cNvSpPr/>
          <p:nvPr/>
        </p:nvSpPr>
        <p:spPr>
          <a:xfrm>
            <a:off x="4270248" y="3291840"/>
            <a:ext cx="3474720" cy="109728"/>
          </a:xfrm>
          <a:prstGeom prst="rect">
            <a:avLst/>
          </a:prstGeom>
          <a:solidFill>
            <a:srgbClr val="3A6FF8"/>
          </a:solidFill>
          <a:ln/>
        </p:spPr>
      </p:sp>
      <p:sp>
        <p:nvSpPr>
          <p:cNvPr id="11" name="Text 9"/>
          <p:cNvSpPr/>
          <p:nvPr/>
        </p:nvSpPr>
        <p:spPr>
          <a:xfrm>
            <a:off x="4453128" y="3703320"/>
            <a:ext cx="3108960" cy="640080"/>
          </a:xfrm>
          <a:prstGeom prst="rect">
            <a:avLst/>
          </a:prstGeom>
          <a:noFill/>
          <a:ln/>
        </p:spPr>
        <p:txBody>
          <a:bodyPr wrap="square" rtlCol="0" anchor="ctr"/>
          <a:lstStyle/>
          <a:p>
            <a:pPr marL="0" indent="0" algn="ctr" rtl="1">
              <a:buNone/>
            </a:pPr>
            <a:r>
              <a:rPr lang="en-US" sz="2100" b="1" dirty="0">
                <a:solidFill>
                  <a:srgbClr val="1E2761"/>
                </a:solidFill>
                <a:latin typeface="Arial" pitchFamily="34" charset="0"/>
                <a:ea typeface="Arial" pitchFamily="34" charset="-122"/>
                <a:cs typeface="Arial" pitchFamily="34" charset="-120"/>
              </a:rPr>
              <a:t>3 خوارزميات</a:t>
            </a:r>
            <a:endParaRPr lang="en-US" sz="2100" dirty="0"/>
          </a:p>
        </p:txBody>
      </p:sp>
      <p:sp>
        <p:nvSpPr>
          <p:cNvPr id="12" name="Text 10"/>
          <p:cNvSpPr/>
          <p:nvPr/>
        </p:nvSpPr>
        <p:spPr>
          <a:xfrm>
            <a:off x="4453128" y="4389120"/>
            <a:ext cx="3108960" cy="457200"/>
          </a:xfrm>
          <a:prstGeom prst="rect">
            <a:avLst/>
          </a:prstGeom>
          <a:noFill/>
          <a:ln/>
        </p:spPr>
        <p:txBody>
          <a:bodyPr wrap="square" rtlCol="0" anchor="ctr"/>
          <a:lstStyle/>
          <a:p>
            <a:pPr marL="0" indent="0" algn="ctr" rtl="1">
              <a:buNone/>
            </a:pPr>
            <a:r>
              <a:rPr lang="en-US" sz="1500" dirty="0">
                <a:solidFill>
                  <a:srgbClr val="5B6472"/>
                </a:solidFill>
                <a:latin typeface="Arial" pitchFamily="34" charset="0"/>
                <a:ea typeface="Arial" pitchFamily="34" charset="-122"/>
                <a:cs typeface="Arial" pitchFamily="34" charset="-120"/>
              </a:rPr>
              <a:t>للمقارنة والاختيار</a:t>
            </a:r>
            <a:endParaRPr lang="en-US" sz="1500" dirty="0"/>
          </a:p>
        </p:txBody>
      </p:sp>
      <p:sp>
        <p:nvSpPr>
          <p:cNvPr id="13" name="Shape 11"/>
          <p:cNvSpPr/>
          <p:nvPr/>
        </p:nvSpPr>
        <p:spPr>
          <a:xfrm>
            <a:off x="7991856" y="3291840"/>
            <a:ext cx="3474720" cy="1737360"/>
          </a:xfrm>
          <a:prstGeom prst="rect">
            <a:avLst/>
          </a:prstGeom>
          <a:solidFill>
            <a:srgbClr val="FFFFFF"/>
          </a:solidFill>
          <a:ln w="12700">
            <a:solidFill>
              <a:srgbClr val="E1E8F5"/>
            </a:solidFill>
            <a:prstDash val="solid"/>
          </a:ln>
          <a:effectLst>
            <a:outerShdw blurRad="101600" dist="25400" dir="5400000" algn="bl" rotWithShape="0">
              <a:srgbClr val="1E2761">
                <a:alpha val="10000"/>
              </a:srgbClr>
            </a:outerShdw>
          </a:effectLst>
        </p:spPr>
      </p:sp>
      <p:sp>
        <p:nvSpPr>
          <p:cNvPr id="14" name="Shape 12"/>
          <p:cNvSpPr/>
          <p:nvPr/>
        </p:nvSpPr>
        <p:spPr>
          <a:xfrm>
            <a:off x="7991856" y="3291840"/>
            <a:ext cx="3474720" cy="109728"/>
          </a:xfrm>
          <a:prstGeom prst="rect">
            <a:avLst/>
          </a:prstGeom>
          <a:solidFill>
            <a:srgbClr val="3A6FF8"/>
          </a:solidFill>
          <a:ln/>
        </p:spPr>
      </p:sp>
      <p:sp>
        <p:nvSpPr>
          <p:cNvPr id="15" name="Text 13"/>
          <p:cNvSpPr/>
          <p:nvPr/>
        </p:nvSpPr>
        <p:spPr>
          <a:xfrm>
            <a:off x="8174736" y="3703320"/>
            <a:ext cx="3108960" cy="640080"/>
          </a:xfrm>
          <a:prstGeom prst="rect">
            <a:avLst/>
          </a:prstGeom>
          <a:noFill/>
          <a:ln/>
        </p:spPr>
        <p:txBody>
          <a:bodyPr wrap="square" rtlCol="0" anchor="ctr"/>
          <a:lstStyle/>
          <a:p>
            <a:pPr marL="0" indent="0" algn="ctr" rtl="1">
              <a:buNone/>
            </a:pPr>
            <a:r>
              <a:rPr lang="en-US" sz="2100" b="1" dirty="0">
                <a:solidFill>
                  <a:srgbClr val="1E2761"/>
                </a:solidFill>
                <a:latin typeface="Arial" pitchFamily="34" charset="0"/>
                <a:ea typeface="Arial" pitchFamily="34" charset="-122"/>
                <a:cs typeface="Arial" pitchFamily="34" charset="-120"/>
              </a:rPr>
              <a:t>Mobile-Ready</a:t>
            </a:r>
            <a:endParaRPr lang="en-US" sz="2100" dirty="0"/>
          </a:p>
        </p:txBody>
      </p:sp>
      <p:sp>
        <p:nvSpPr>
          <p:cNvPr id="16" name="Text 14"/>
          <p:cNvSpPr/>
          <p:nvPr/>
        </p:nvSpPr>
        <p:spPr>
          <a:xfrm>
            <a:off x="8174736" y="4389120"/>
            <a:ext cx="3108960" cy="457200"/>
          </a:xfrm>
          <a:prstGeom prst="rect">
            <a:avLst/>
          </a:prstGeom>
          <a:noFill/>
          <a:ln/>
        </p:spPr>
        <p:txBody>
          <a:bodyPr wrap="square" rtlCol="0" anchor="ctr"/>
          <a:lstStyle/>
          <a:p>
            <a:pPr marL="0" indent="0" algn="ctr" rtl="1">
              <a:buNone/>
            </a:pPr>
            <a:r>
              <a:rPr lang="en-US" sz="1500" dirty="0">
                <a:solidFill>
                  <a:srgbClr val="5B6472"/>
                </a:solidFill>
                <a:latin typeface="Arial" pitchFamily="34" charset="0"/>
                <a:ea typeface="Arial" pitchFamily="34" charset="-122"/>
                <a:cs typeface="Arial" pitchFamily="34" charset="-120"/>
              </a:rPr>
              <a:t>موجّه للحوسبة المتنقلة</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E2761"/>
          </a:solidFill>
          <a:ln/>
        </p:spPr>
      </p:sp>
      <p:sp>
        <p:nvSpPr>
          <p:cNvPr id="3" name="Text 1"/>
          <p:cNvSpPr/>
          <p:nvPr/>
        </p:nvSpPr>
        <p:spPr>
          <a:xfrm>
            <a:off x="548640" y="182880"/>
            <a:ext cx="11064240" cy="685800"/>
          </a:xfrm>
          <a:prstGeom prst="rect">
            <a:avLst/>
          </a:prstGeom>
          <a:noFill/>
          <a:ln/>
        </p:spPr>
        <p:txBody>
          <a:bodyPr wrap="square" rtlCol="0" anchor="ctr"/>
          <a:lstStyle/>
          <a:p>
            <a:pPr marL="0" indent="0" algn="r" rtl="1">
              <a:buNone/>
            </a:pPr>
            <a:r>
              <a:rPr lang="en-US" sz="3000" b="1" dirty="0">
                <a:solidFill>
                  <a:srgbClr val="FFFFFF"/>
                </a:solidFill>
                <a:latin typeface="Arial" pitchFamily="34" charset="0"/>
                <a:ea typeface="Arial" pitchFamily="34" charset="-122"/>
                <a:cs typeface="Arial" pitchFamily="34" charset="-120"/>
              </a:rPr>
              <a:t>مراحل تنفيذ المشروع</a:t>
            </a:r>
            <a:endParaRPr lang="en-US" sz="3000" dirty="0"/>
          </a:p>
        </p:txBody>
      </p:sp>
      <p:sp>
        <p:nvSpPr>
          <p:cNvPr id="4" name="Shape 2"/>
          <p:cNvSpPr/>
          <p:nvPr/>
        </p:nvSpPr>
        <p:spPr>
          <a:xfrm>
            <a:off x="548640" y="1417320"/>
            <a:ext cx="11064240" cy="1078992"/>
          </a:xfrm>
          <a:prstGeom prst="rect">
            <a:avLst/>
          </a:prstGeom>
          <a:solidFill>
            <a:srgbClr val="FFFFFF"/>
          </a:solidFill>
          <a:ln w="12700">
            <a:solidFill>
              <a:srgbClr val="E1E8F5"/>
            </a:solidFill>
            <a:prstDash val="solid"/>
          </a:ln>
        </p:spPr>
      </p:sp>
      <p:sp>
        <p:nvSpPr>
          <p:cNvPr id="5" name="Shape 3"/>
          <p:cNvSpPr/>
          <p:nvPr/>
        </p:nvSpPr>
        <p:spPr>
          <a:xfrm>
            <a:off x="10515600" y="1664208"/>
            <a:ext cx="594360" cy="594360"/>
          </a:xfrm>
          <a:prstGeom prst="ellipse">
            <a:avLst/>
          </a:prstGeom>
          <a:solidFill>
            <a:srgbClr val="3A6FF8"/>
          </a:solidFill>
          <a:ln/>
        </p:spPr>
      </p:sp>
      <p:sp>
        <p:nvSpPr>
          <p:cNvPr id="6" name="Text 4"/>
          <p:cNvSpPr/>
          <p:nvPr/>
        </p:nvSpPr>
        <p:spPr>
          <a:xfrm>
            <a:off x="10515600" y="1664208"/>
            <a:ext cx="594360" cy="59436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١</a:t>
            </a:r>
            <a:endParaRPr lang="en-US" sz="2200" dirty="0"/>
          </a:p>
        </p:txBody>
      </p:sp>
      <p:sp>
        <p:nvSpPr>
          <p:cNvPr id="7" name="Text 5"/>
          <p:cNvSpPr/>
          <p:nvPr/>
        </p:nvSpPr>
        <p:spPr>
          <a:xfrm>
            <a:off x="6035040" y="1554480"/>
            <a:ext cx="4206240" cy="457200"/>
          </a:xfrm>
          <a:prstGeom prst="rect">
            <a:avLst/>
          </a:prstGeom>
          <a:noFill/>
          <a:ln/>
        </p:spPr>
        <p:txBody>
          <a:bodyPr wrap="square" rtlCol="0" anchor="ctr"/>
          <a:lstStyle/>
          <a:p>
            <a:pPr marL="0" indent="0" algn="r" rtl="1">
              <a:buNone/>
            </a:pPr>
            <a:r>
              <a:rPr lang="en-US" sz="1900" b="1" dirty="0">
                <a:solidFill>
                  <a:srgbClr val="1E2761"/>
                </a:solidFill>
                <a:latin typeface="Arial" pitchFamily="34" charset="0"/>
                <a:ea typeface="Arial" pitchFamily="34" charset="-122"/>
                <a:cs typeface="Arial" pitchFamily="34" charset="-120"/>
              </a:rPr>
              <a:t>استيراد وقراءة البيانات</a:t>
            </a:r>
            <a:endParaRPr lang="en-US" sz="1900" dirty="0"/>
          </a:p>
        </p:txBody>
      </p:sp>
      <p:sp>
        <p:nvSpPr>
          <p:cNvPr id="8" name="Text 6"/>
          <p:cNvSpPr/>
          <p:nvPr/>
        </p:nvSpPr>
        <p:spPr>
          <a:xfrm>
            <a:off x="822960" y="1965960"/>
            <a:ext cx="9418320" cy="457200"/>
          </a:xfrm>
          <a:prstGeom prst="rect">
            <a:avLst/>
          </a:prstGeom>
          <a:noFill/>
          <a:ln/>
        </p:spPr>
        <p:txBody>
          <a:bodyPr wrap="square" rtlCol="0" anchor="ctr"/>
          <a:lstStyle/>
          <a:p>
            <a:pPr marL="0" indent="0" algn="r" rtl="1">
              <a:buNone/>
            </a:pPr>
            <a:r>
              <a:rPr lang="en-US" sz="1450" dirty="0">
                <a:solidFill>
                  <a:srgbClr val="5B6472"/>
                </a:solidFill>
                <a:latin typeface="Arial" pitchFamily="34" charset="0"/>
                <a:ea typeface="Arial" pitchFamily="34" charset="-122"/>
                <a:cs typeface="Arial" pitchFamily="34" charset="-120"/>
              </a:rPr>
              <a:t>فك ضغط ملف Kaggle واستخراج ad_campaign_data.csv وقراءته عبر pandas</a:t>
            </a:r>
            <a:endParaRPr lang="en-US" sz="1450" dirty="0"/>
          </a:p>
        </p:txBody>
      </p:sp>
      <p:sp>
        <p:nvSpPr>
          <p:cNvPr id="9" name="Shape 7"/>
          <p:cNvSpPr/>
          <p:nvPr/>
        </p:nvSpPr>
        <p:spPr>
          <a:xfrm>
            <a:off x="548640" y="2660904"/>
            <a:ext cx="11064240" cy="1078992"/>
          </a:xfrm>
          <a:prstGeom prst="rect">
            <a:avLst/>
          </a:prstGeom>
          <a:solidFill>
            <a:srgbClr val="FFFFFF"/>
          </a:solidFill>
          <a:ln w="12700">
            <a:solidFill>
              <a:srgbClr val="E1E8F5"/>
            </a:solidFill>
            <a:prstDash val="solid"/>
          </a:ln>
        </p:spPr>
      </p:sp>
      <p:sp>
        <p:nvSpPr>
          <p:cNvPr id="10" name="Shape 8"/>
          <p:cNvSpPr/>
          <p:nvPr/>
        </p:nvSpPr>
        <p:spPr>
          <a:xfrm>
            <a:off x="10515600" y="2907792"/>
            <a:ext cx="594360" cy="594360"/>
          </a:xfrm>
          <a:prstGeom prst="ellipse">
            <a:avLst/>
          </a:prstGeom>
          <a:solidFill>
            <a:srgbClr val="3A6FF8"/>
          </a:solidFill>
          <a:ln/>
        </p:spPr>
      </p:sp>
      <p:sp>
        <p:nvSpPr>
          <p:cNvPr id="11" name="Text 9"/>
          <p:cNvSpPr/>
          <p:nvPr/>
        </p:nvSpPr>
        <p:spPr>
          <a:xfrm>
            <a:off x="10515600" y="2907792"/>
            <a:ext cx="594360" cy="59436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٢</a:t>
            </a:r>
            <a:endParaRPr lang="en-US" sz="2200" dirty="0"/>
          </a:p>
        </p:txBody>
      </p:sp>
      <p:sp>
        <p:nvSpPr>
          <p:cNvPr id="12" name="Text 10"/>
          <p:cNvSpPr/>
          <p:nvPr/>
        </p:nvSpPr>
        <p:spPr>
          <a:xfrm>
            <a:off x="6035040" y="2798064"/>
            <a:ext cx="4206240" cy="457200"/>
          </a:xfrm>
          <a:prstGeom prst="rect">
            <a:avLst/>
          </a:prstGeom>
          <a:noFill/>
          <a:ln/>
        </p:spPr>
        <p:txBody>
          <a:bodyPr wrap="square" rtlCol="0" anchor="ctr"/>
          <a:lstStyle/>
          <a:p>
            <a:pPr marL="0" indent="0" algn="r" rtl="1">
              <a:buNone/>
            </a:pPr>
            <a:r>
              <a:rPr lang="en-US" sz="1900" b="1" dirty="0">
                <a:solidFill>
                  <a:srgbClr val="1E2761"/>
                </a:solidFill>
                <a:latin typeface="Arial" pitchFamily="34" charset="0"/>
                <a:ea typeface="Arial" pitchFamily="34" charset="-122"/>
                <a:cs typeface="Arial" pitchFamily="34" charset="-120"/>
              </a:rPr>
              <a:t>تجهيز الميزات</a:t>
            </a:r>
            <a:endParaRPr lang="en-US" sz="1900" dirty="0"/>
          </a:p>
        </p:txBody>
      </p:sp>
      <p:sp>
        <p:nvSpPr>
          <p:cNvPr id="13" name="Text 11"/>
          <p:cNvSpPr/>
          <p:nvPr/>
        </p:nvSpPr>
        <p:spPr>
          <a:xfrm>
            <a:off x="822960" y="3209544"/>
            <a:ext cx="9418320" cy="457200"/>
          </a:xfrm>
          <a:prstGeom prst="rect">
            <a:avLst/>
          </a:prstGeom>
          <a:noFill/>
          <a:ln/>
        </p:spPr>
        <p:txBody>
          <a:bodyPr wrap="square" rtlCol="0" anchor="ctr"/>
          <a:lstStyle/>
          <a:p>
            <a:pPr marL="0" indent="0" algn="r" rtl="1">
              <a:buNone/>
            </a:pPr>
            <a:r>
              <a:rPr lang="en-US" sz="1450" dirty="0">
                <a:solidFill>
                  <a:srgbClr val="5B6472"/>
                </a:solidFill>
                <a:latin typeface="Arial" pitchFamily="34" charset="0"/>
                <a:ea typeface="Arial" pitchFamily="34" charset="-122"/>
                <a:cs typeface="Arial" pitchFamily="34" charset="-120"/>
              </a:rPr>
              <a:t>اختيار: age, gender, impressions, clicks </a:t>
            </a:r>
            <a:r>
              <a:rPr lang="en-US" sz="1450" dirty="0" err="1">
                <a:solidFill>
                  <a:srgbClr val="5B6472"/>
                </a:solidFill>
                <a:latin typeface="Arial" pitchFamily="34" charset="0"/>
                <a:ea typeface="Arial" pitchFamily="34" charset="-122"/>
                <a:cs typeface="Arial" pitchFamily="34" charset="-120"/>
              </a:rPr>
              <a:t>والهدف</a:t>
            </a:r>
            <a:r>
              <a:rPr lang="en-US" sz="1450" dirty="0">
                <a:solidFill>
                  <a:srgbClr val="5B6472"/>
                </a:solidFill>
                <a:latin typeface="Arial" pitchFamily="34" charset="0"/>
                <a:ea typeface="Arial" pitchFamily="34" charset="-122"/>
                <a:cs typeface="Arial" pitchFamily="34" charset="-120"/>
              </a:rPr>
              <a:t>: conversions</a:t>
            </a:r>
            <a:endParaRPr lang="en-US" sz="1450" dirty="0"/>
          </a:p>
        </p:txBody>
      </p:sp>
      <p:sp>
        <p:nvSpPr>
          <p:cNvPr id="14" name="Shape 12"/>
          <p:cNvSpPr/>
          <p:nvPr/>
        </p:nvSpPr>
        <p:spPr>
          <a:xfrm>
            <a:off x="548640" y="3904488"/>
            <a:ext cx="11064240" cy="1078992"/>
          </a:xfrm>
          <a:prstGeom prst="rect">
            <a:avLst/>
          </a:prstGeom>
          <a:solidFill>
            <a:srgbClr val="FFFFFF"/>
          </a:solidFill>
          <a:ln w="12700">
            <a:solidFill>
              <a:srgbClr val="E1E8F5"/>
            </a:solidFill>
            <a:prstDash val="solid"/>
          </a:ln>
        </p:spPr>
      </p:sp>
      <p:sp>
        <p:nvSpPr>
          <p:cNvPr id="15" name="Shape 13"/>
          <p:cNvSpPr/>
          <p:nvPr/>
        </p:nvSpPr>
        <p:spPr>
          <a:xfrm>
            <a:off x="10515600" y="4151376"/>
            <a:ext cx="594360" cy="594360"/>
          </a:xfrm>
          <a:prstGeom prst="ellipse">
            <a:avLst/>
          </a:prstGeom>
          <a:solidFill>
            <a:srgbClr val="3A6FF8"/>
          </a:solidFill>
          <a:ln/>
        </p:spPr>
      </p:sp>
      <p:sp>
        <p:nvSpPr>
          <p:cNvPr id="16" name="Text 14"/>
          <p:cNvSpPr/>
          <p:nvPr/>
        </p:nvSpPr>
        <p:spPr>
          <a:xfrm>
            <a:off x="10515600" y="4151376"/>
            <a:ext cx="594360" cy="59436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٣</a:t>
            </a:r>
            <a:endParaRPr lang="en-US" sz="2200" dirty="0"/>
          </a:p>
        </p:txBody>
      </p:sp>
      <p:sp>
        <p:nvSpPr>
          <p:cNvPr id="17" name="Text 15"/>
          <p:cNvSpPr/>
          <p:nvPr/>
        </p:nvSpPr>
        <p:spPr>
          <a:xfrm>
            <a:off x="6035040" y="4041648"/>
            <a:ext cx="4206240" cy="457200"/>
          </a:xfrm>
          <a:prstGeom prst="rect">
            <a:avLst/>
          </a:prstGeom>
          <a:noFill/>
          <a:ln/>
        </p:spPr>
        <p:txBody>
          <a:bodyPr wrap="square" rtlCol="0" anchor="ctr"/>
          <a:lstStyle/>
          <a:p>
            <a:pPr marL="0" indent="0" algn="r" rtl="1">
              <a:buNone/>
            </a:pPr>
            <a:r>
              <a:rPr lang="en-US" sz="1900" b="1" dirty="0">
                <a:solidFill>
                  <a:srgbClr val="1E2761"/>
                </a:solidFill>
                <a:latin typeface="Arial" pitchFamily="34" charset="0"/>
                <a:ea typeface="Arial" pitchFamily="34" charset="-122"/>
                <a:cs typeface="Arial" pitchFamily="34" charset="-120"/>
              </a:rPr>
              <a:t>تقسيم البيانات</a:t>
            </a:r>
            <a:endParaRPr lang="en-US" sz="1900" dirty="0"/>
          </a:p>
        </p:txBody>
      </p:sp>
      <p:sp>
        <p:nvSpPr>
          <p:cNvPr id="18" name="Text 16"/>
          <p:cNvSpPr/>
          <p:nvPr/>
        </p:nvSpPr>
        <p:spPr>
          <a:xfrm>
            <a:off x="822960" y="4453128"/>
            <a:ext cx="9418320" cy="457200"/>
          </a:xfrm>
          <a:prstGeom prst="rect">
            <a:avLst/>
          </a:prstGeom>
          <a:noFill/>
          <a:ln/>
        </p:spPr>
        <p:txBody>
          <a:bodyPr wrap="square" rtlCol="0" anchor="ctr"/>
          <a:lstStyle/>
          <a:p>
            <a:pPr marL="0" indent="0" algn="r" rtl="1">
              <a:buNone/>
            </a:pPr>
            <a:r>
              <a:rPr lang="en-US" sz="1450" dirty="0">
                <a:solidFill>
                  <a:srgbClr val="5B6472"/>
                </a:solidFill>
                <a:latin typeface="Arial" pitchFamily="34" charset="0"/>
                <a:ea typeface="Arial" pitchFamily="34" charset="-122"/>
                <a:cs typeface="Arial" pitchFamily="34" charset="-120"/>
              </a:rPr>
              <a:t>80% تدريب و20% اختبار عشوائي (random_state = 42)</a:t>
            </a:r>
            <a:endParaRPr lang="en-US" sz="1450" dirty="0"/>
          </a:p>
        </p:txBody>
      </p:sp>
      <p:sp>
        <p:nvSpPr>
          <p:cNvPr id="19" name="Shape 17"/>
          <p:cNvSpPr/>
          <p:nvPr/>
        </p:nvSpPr>
        <p:spPr>
          <a:xfrm>
            <a:off x="548640" y="5148072"/>
            <a:ext cx="11064240" cy="1078992"/>
          </a:xfrm>
          <a:prstGeom prst="rect">
            <a:avLst/>
          </a:prstGeom>
          <a:solidFill>
            <a:srgbClr val="FFFFFF"/>
          </a:solidFill>
          <a:ln w="12700">
            <a:solidFill>
              <a:srgbClr val="E1E8F5"/>
            </a:solidFill>
            <a:prstDash val="solid"/>
          </a:ln>
        </p:spPr>
      </p:sp>
      <p:sp>
        <p:nvSpPr>
          <p:cNvPr id="20" name="Shape 18"/>
          <p:cNvSpPr/>
          <p:nvPr/>
        </p:nvSpPr>
        <p:spPr>
          <a:xfrm>
            <a:off x="10515600" y="5394960"/>
            <a:ext cx="594360" cy="594360"/>
          </a:xfrm>
          <a:prstGeom prst="ellipse">
            <a:avLst/>
          </a:prstGeom>
          <a:solidFill>
            <a:srgbClr val="3A6FF8"/>
          </a:solidFill>
          <a:ln/>
        </p:spPr>
      </p:sp>
      <p:sp>
        <p:nvSpPr>
          <p:cNvPr id="21" name="Text 19"/>
          <p:cNvSpPr/>
          <p:nvPr/>
        </p:nvSpPr>
        <p:spPr>
          <a:xfrm>
            <a:off x="10515600" y="5394960"/>
            <a:ext cx="594360" cy="594360"/>
          </a:xfrm>
          <a:prstGeom prst="rect">
            <a:avLst/>
          </a:prstGeom>
          <a:noFill/>
          <a:ln/>
        </p:spPr>
        <p:txBody>
          <a:bodyPr wrap="square"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٤</a:t>
            </a:r>
            <a:endParaRPr lang="en-US" sz="2200" dirty="0"/>
          </a:p>
        </p:txBody>
      </p:sp>
      <p:sp>
        <p:nvSpPr>
          <p:cNvPr id="22" name="Text 20"/>
          <p:cNvSpPr/>
          <p:nvPr/>
        </p:nvSpPr>
        <p:spPr>
          <a:xfrm>
            <a:off x="6035040" y="5285232"/>
            <a:ext cx="4206240" cy="457200"/>
          </a:xfrm>
          <a:prstGeom prst="rect">
            <a:avLst/>
          </a:prstGeom>
          <a:noFill/>
          <a:ln/>
        </p:spPr>
        <p:txBody>
          <a:bodyPr wrap="square" rtlCol="0" anchor="ctr"/>
          <a:lstStyle/>
          <a:p>
            <a:pPr marL="0" indent="0" algn="r" rtl="1">
              <a:buNone/>
            </a:pPr>
            <a:r>
              <a:rPr lang="en-US" sz="1900" b="1" dirty="0">
                <a:solidFill>
                  <a:srgbClr val="1E2761"/>
                </a:solidFill>
                <a:latin typeface="Arial" pitchFamily="34" charset="0"/>
                <a:ea typeface="Arial" pitchFamily="34" charset="-122"/>
                <a:cs typeface="Arial" pitchFamily="34" charset="-120"/>
              </a:rPr>
              <a:t>التدريب والمقارنة</a:t>
            </a:r>
            <a:endParaRPr lang="en-US" sz="1900" dirty="0"/>
          </a:p>
        </p:txBody>
      </p:sp>
      <p:sp>
        <p:nvSpPr>
          <p:cNvPr id="23" name="Text 21"/>
          <p:cNvSpPr/>
          <p:nvPr/>
        </p:nvSpPr>
        <p:spPr>
          <a:xfrm>
            <a:off x="822960" y="5696712"/>
            <a:ext cx="9418320" cy="457200"/>
          </a:xfrm>
          <a:prstGeom prst="rect">
            <a:avLst/>
          </a:prstGeom>
          <a:noFill/>
          <a:ln/>
        </p:spPr>
        <p:txBody>
          <a:bodyPr wrap="square" rtlCol="0" anchor="ctr"/>
          <a:lstStyle/>
          <a:p>
            <a:pPr marL="0" indent="0" algn="r" rtl="1">
              <a:buNone/>
            </a:pPr>
            <a:r>
              <a:rPr lang="en-US" sz="1450" dirty="0">
                <a:solidFill>
                  <a:srgbClr val="5B6472"/>
                </a:solidFill>
                <a:latin typeface="Arial" pitchFamily="34" charset="0"/>
                <a:ea typeface="Arial" pitchFamily="34" charset="-122"/>
                <a:cs typeface="Arial" pitchFamily="34" charset="-120"/>
              </a:rPr>
              <a:t>تشغيل SVM و Decision Tree و Random Forest ومقارنة الدقة</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E2761"/>
          </a:solidFill>
          <a:ln/>
        </p:spPr>
      </p:sp>
      <p:sp>
        <p:nvSpPr>
          <p:cNvPr id="3" name="Text 1"/>
          <p:cNvSpPr/>
          <p:nvPr/>
        </p:nvSpPr>
        <p:spPr>
          <a:xfrm>
            <a:off x="548640" y="182880"/>
            <a:ext cx="11064240" cy="685800"/>
          </a:xfrm>
          <a:prstGeom prst="rect">
            <a:avLst/>
          </a:prstGeom>
          <a:noFill/>
          <a:ln/>
        </p:spPr>
        <p:txBody>
          <a:bodyPr wrap="square" rtlCol="0" anchor="ctr"/>
          <a:lstStyle/>
          <a:p>
            <a:pPr marL="0" indent="0" algn="r" rtl="1">
              <a:buNone/>
            </a:pPr>
            <a:r>
              <a:rPr lang="en-US" sz="3000" b="1" dirty="0">
                <a:solidFill>
                  <a:srgbClr val="FFFFFF"/>
                </a:solidFill>
                <a:latin typeface="Arial" pitchFamily="34" charset="0"/>
                <a:ea typeface="Arial" pitchFamily="34" charset="-122"/>
                <a:cs typeface="Arial" pitchFamily="34" charset="-120"/>
              </a:rPr>
              <a:t>النتائج النهائية</a:t>
            </a:r>
            <a:endParaRPr lang="en-US" sz="3000" dirty="0"/>
          </a:p>
        </p:txBody>
      </p:sp>
      <p:sp>
        <p:nvSpPr>
          <p:cNvPr id="4" name="Text 2"/>
          <p:cNvSpPr/>
          <p:nvPr/>
        </p:nvSpPr>
        <p:spPr>
          <a:xfrm>
            <a:off x="548640" y="1234440"/>
            <a:ext cx="11064240" cy="457200"/>
          </a:xfrm>
          <a:prstGeom prst="rect">
            <a:avLst/>
          </a:prstGeom>
          <a:noFill/>
          <a:ln/>
        </p:spPr>
        <p:txBody>
          <a:bodyPr wrap="square" rtlCol="0" anchor="ctr"/>
          <a:lstStyle/>
          <a:p>
            <a:pPr marL="0" indent="0" algn="r" rtl="1">
              <a:buNone/>
            </a:pPr>
            <a:r>
              <a:rPr lang="en-US" sz="1700" dirty="0">
                <a:solidFill>
                  <a:srgbClr val="5B6472"/>
                </a:solidFill>
                <a:latin typeface="Arial" pitchFamily="34" charset="0"/>
                <a:ea typeface="Arial" pitchFamily="34" charset="-122"/>
                <a:cs typeface="Arial" pitchFamily="34" charset="-120"/>
              </a:rPr>
              <a:t>دقة الخوارزميات الثلاث على مجموعة الاختبار</a:t>
            </a:r>
            <a:endParaRPr lang="en-US" sz="1700" dirty="0"/>
          </a:p>
        </p:txBody>
      </p:sp>
      <p:graphicFrame>
        <p:nvGraphicFramePr>
          <p:cNvPr id="5" name="Chart 0"/>
          <p:cNvGraphicFramePr/>
          <p:nvPr/>
        </p:nvGraphicFramePr>
        <p:xfrm>
          <a:off x="548640" y="1828800"/>
          <a:ext cx="6035040" cy="4297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0" y="2057400"/>
          <a:ext cx="4754880" cy="2267712"/>
        </p:xfrm>
        <a:graphic>
          <a:graphicData uri="http://schemas.openxmlformats.org/drawingml/2006/table">
            <a:tbl>
              <a:tblPr/>
              <a:tblGrid>
                <a:gridCol w="26517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566928">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الخوارزمية</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1E2761"/>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الدقة</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E2761"/>
                          </a:solidFill>
                          <a:latin typeface="Arial" pitchFamily="34" charset="0"/>
                          <a:ea typeface="Arial" pitchFamily="34" charset="-122"/>
                          <a:cs typeface="Arial" pitchFamily="34" charset="-120"/>
                        </a:rPr>
                        <a:t>SVM</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Arial" pitchFamily="34" charset="0"/>
                          <a:ea typeface="Arial" pitchFamily="34" charset="-122"/>
                          <a:cs typeface="Arial" pitchFamily="34" charset="-120"/>
                        </a:rPr>
                        <a:t>100%  (1.0)</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E2761"/>
                          </a:solidFill>
                          <a:latin typeface="Arial" pitchFamily="34" charset="0"/>
                          <a:ea typeface="Arial" pitchFamily="34" charset="-122"/>
                          <a:cs typeface="Arial" pitchFamily="34" charset="-120"/>
                        </a:rPr>
                        <a:t>Random Forest</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Arial" pitchFamily="34" charset="0"/>
                          <a:ea typeface="Arial" pitchFamily="34" charset="-122"/>
                          <a:cs typeface="Arial" pitchFamily="34" charset="-120"/>
                        </a:rPr>
                        <a:t>99.84%  (0.99845)</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E2761"/>
                          </a:solidFill>
                          <a:latin typeface="Arial" pitchFamily="34" charset="0"/>
                          <a:ea typeface="Arial" pitchFamily="34" charset="-122"/>
                          <a:cs typeface="Arial" pitchFamily="34" charset="-120"/>
                        </a:rPr>
                        <a:t>Decision Tree</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Arial" pitchFamily="34" charset="0"/>
                          <a:ea typeface="Arial" pitchFamily="34" charset="-122"/>
                          <a:cs typeface="Arial" pitchFamily="34" charset="-120"/>
                        </a:rPr>
                        <a:t>99.74%  (0.9974)</a:t>
                      </a:r>
                      <a:endParaRPr lang="en-US" sz="1500" dirty="0">
                        <a:latin typeface="Arial" charset="0"/>
                        <a:ea typeface="Arial" charset="0"/>
                        <a:cs typeface="Arial" charset="0"/>
                      </a:endParaRPr>
                    </a:p>
                  </a:txBody>
                  <a:tcPr anchor="ctr">
                    <a:lnL w="12700" cap="flat" cmpd="sng" algn="ctr">
                      <a:solidFill>
                        <a:srgbClr val="DCE3F2"/>
                      </a:solidFill>
                      <a:prstDash val="solid"/>
                      <a:round/>
                      <a:headEnd type="none" w="med" len="med"/>
                      <a:tailEnd type="none" w="med" len="med"/>
                    </a:lnL>
                    <a:lnR w="12700" cap="flat" cmpd="sng" algn="ctr">
                      <a:solidFill>
                        <a:srgbClr val="DCE3F2"/>
                      </a:solidFill>
                      <a:prstDash val="solid"/>
                      <a:round/>
                      <a:headEnd type="none" w="med" len="med"/>
                      <a:tailEnd type="none" w="med" len="med"/>
                    </a:lnR>
                    <a:lnT w="12700" cap="flat" cmpd="sng" algn="ctr">
                      <a:solidFill>
                        <a:srgbClr val="DCE3F2"/>
                      </a:solidFill>
                      <a:prstDash val="solid"/>
                      <a:round/>
                      <a:headEnd type="none" w="med" len="med"/>
                      <a:tailEnd type="none" w="med" len="med"/>
                    </a:lnT>
                    <a:lnB w="12700" cap="flat" cmpd="sng" algn="ctr">
                      <a:solidFill>
                        <a:srgbClr val="DCE3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p:nvPr/>
        </p:nvSpPr>
        <p:spPr>
          <a:xfrm>
            <a:off x="6858000" y="4937760"/>
            <a:ext cx="4754880" cy="914400"/>
          </a:xfrm>
          <a:prstGeom prst="rect">
            <a:avLst/>
          </a:prstGeom>
          <a:noFill/>
          <a:ln/>
        </p:spPr>
        <p:txBody>
          <a:bodyPr wrap="square" rtlCol="0" anchor="t"/>
          <a:lstStyle/>
          <a:p>
            <a:pPr marL="0" indent="0" algn="r" rtl="1">
              <a:buNone/>
            </a:pPr>
            <a:r>
              <a:rPr lang="en-US" sz="1500" i="1" dirty="0" err="1">
                <a:solidFill>
                  <a:srgbClr val="5B6472"/>
                </a:solidFill>
                <a:latin typeface="Arial" pitchFamily="34" charset="0"/>
                <a:ea typeface="Arial" pitchFamily="34" charset="-122"/>
                <a:cs typeface="Arial" pitchFamily="34" charset="-120"/>
              </a:rPr>
              <a:t>تفوّقت</a:t>
            </a:r>
            <a:r>
              <a:rPr lang="en-US" sz="1500" i="1" dirty="0">
                <a:solidFill>
                  <a:srgbClr val="5B6472"/>
                </a:solidFill>
                <a:latin typeface="Arial" pitchFamily="34" charset="0"/>
                <a:ea typeface="Arial" pitchFamily="34" charset="-122"/>
                <a:cs typeface="Arial" pitchFamily="34" charset="-120"/>
              </a:rPr>
              <a:t> SVM بالدقة الكاملة، تلتها Random Forest ثم Decision Tree بفارق ضئيل.</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E2761"/>
          </a:solidFill>
          <a:ln/>
        </p:spPr>
      </p:sp>
      <p:sp>
        <p:nvSpPr>
          <p:cNvPr id="3" name="Text 1"/>
          <p:cNvSpPr/>
          <p:nvPr/>
        </p:nvSpPr>
        <p:spPr>
          <a:xfrm>
            <a:off x="548640" y="182880"/>
            <a:ext cx="11064240" cy="685800"/>
          </a:xfrm>
          <a:prstGeom prst="rect">
            <a:avLst/>
          </a:prstGeom>
          <a:noFill/>
          <a:ln/>
        </p:spPr>
        <p:txBody>
          <a:bodyPr wrap="square" rtlCol="0" anchor="ctr"/>
          <a:lstStyle/>
          <a:p>
            <a:pPr marL="0" indent="0" algn="r" rtl="1">
              <a:buNone/>
            </a:pPr>
            <a:r>
              <a:rPr lang="en-US" sz="2800" b="1" dirty="0">
                <a:solidFill>
                  <a:srgbClr val="FFFFFF"/>
                </a:solidFill>
                <a:latin typeface="Arial" pitchFamily="34" charset="0"/>
                <a:ea typeface="Arial" pitchFamily="34" charset="-122"/>
                <a:cs typeface="Arial" pitchFamily="34" charset="-120"/>
              </a:rPr>
              <a:t>التحليل الهندسي والحوسبة المتنقلة</a:t>
            </a:r>
            <a:endParaRPr lang="en-US" sz="2800" dirty="0"/>
          </a:p>
        </p:txBody>
      </p:sp>
      <p:sp>
        <p:nvSpPr>
          <p:cNvPr id="4" name="Shape 2"/>
          <p:cNvSpPr/>
          <p:nvPr/>
        </p:nvSpPr>
        <p:spPr>
          <a:xfrm>
            <a:off x="548640" y="1463040"/>
            <a:ext cx="11064240" cy="1417320"/>
          </a:xfrm>
          <a:prstGeom prst="rect">
            <a:avLst/>
          </a:prstGeom>
          <a:solidFill>
            <a:srgbClr val="FFFFFF"/>
          </a:solidFill>
          <a:ln w="12700">
            <a:solidFill>
              <a:srgbClr val="E1E8F5"/>
            </a:solidFill>
            <a:prstDash val="solid"/>
          </a:ln>
        </p:spPr>
      </p:sp>
      <p:sp>
        <p:nvSpPr>
          <p:cNvPr id="5" name="Shape 3"/>
          <p:cNvSpPr/>
          <p:nvPr/>
        </p:nvSpPr>
        <p:spPr>
          <a:xfrm>
            <a:off x="11503152" y="1463040"/>
            <a:ext cx="109728" cy="1417320"/>
          </a:xfrm>
          <a:prstGeom prst="rect">
            <a:avLst/>
          </a:prstGeom>
          <a:solidFill>
            <a:srgbClr val="F2B705"/>
          </a:solidFill>
          <a:ln/>
        </p:spPr>
      </p:sp>
      <p:sp>
        <p:nvSpPr>
          <p:cNvPr id="6" name="Text 4"/>
          <p:cNvSpPr/>
          <p:nvPr/>
        </p:nvSpPr>
        <p:spPr>
          <a:xfrm>
            <a:off x="5760720" y="1664208"/>
            <a:ext cx="5486400" cy="457200"/>
          </a:xfrm>
          <a:prstGeom prst="rect">
            <a:avLst/>
          </a:prstGeom>
          <a:noFill/>
          <a:ln/>
        </p:spPr>
        <p:txBody>
          <a:bodyPr wrap="square" rtlCol="0" anchor="ctr"/>
          <a:lstStyle/>
          <a:p>
            <a:pPr marL="0" indent="0" algn="r" rtl="1">
              <a:buNone/>
            </a:pPr>
            <a:r>
              <a:rPr lang="en-US" sz="2000" b="1" dirty="0">
                <a:solidFill>
                  <a:srgbClr val="1E2761"/>
                </a:solidFill>
                <a:latin typeface="Arial" pitchFamily="34" charset="0"/>
                <a:ea typeface="Arial" pitchFamily="34" charset="-122"/>
                <a:cs typeface="Arial" pitchFamily="34" charset="-120"/>
              </a:rPr>
              <a:t>فصل خطّي ممتاز</a:t>
            </a:r>
            <a:endParaRPr lang="en-US" sz="2000" dirty="0"/>
          </a:p>
        </p:txBody>
      </p:sp>
      <p:sp>
        <p:nvSpPr>
          <p:cNvPr id="7" name="Text 5"/>
          <p:cNvSpPr/>
          <p:nvPr/>
        </p:nvSpPr>
        <p:spPr>
          <a:xfrm>
            <a:off x="822960" y="2148840"/>
            <a:ext cx="10424160" cy="594360"/>
          </a:xfrm>
          <a:prstGeom prst="rect">
            <a:avLst/>
          </a:prstGeom>
          <a:noFill/>
          <a:ln/>
        </p:spPr>
        <p:txBody>
          <a:bodyPr wrap="square" rtlCol="0" anchor="ctr"/>
          <a:lstStyle/>
          <a:p>
            <a:pPr marL="0" indent="0" algn="r" rtl="1">
              <a:buNone/>
            </a:pPr>
            <a:r>
              <a:rPr lang="en-US" sz="1600" dirty="0">
                <a:solidFill>
                  <a:srgbClr val="5B6472"/>
                </a:solidFill>
                <a:latin typeface="Arial" pitchFamily="34" charset="0"/>
                <a:ea typeface="Arial" pitchFamily="34" charset="-122"/>
                <a:cs typeface="Arial" pitchFamily="34" charset="-120"/>
              </a:rPr>
              <a:t>البيانات قابلة للفصل خطياً (Linearly Separable)، مما جعل SVM يحقق الدقة الكاملة.</a:t>
            </a:r>
            <a:endParaRPr lang="en-US" sz="1600" dirty="0"/>
          </a:p>
        </p:txBody>
      </p:sp>
      <p:sp>
        <p:nvSpPr>
          <p:cNvPr id="8" name="Shape 6"/>
          <p:cNvSpPr/>
          <p:nvPr/>
        </p:nvSpPr>
        <p:spPr>
          <a:xfrm>
            <a:off x="548640" y="3090672"/>
            <a:ext cx="11064240" cy="1417320"/>
          </a:xfrm>
          <a:prstGeom prst="rect">
            <a:avLst/>
          </a:prstGeom>
          <a:solidFill>
            <a:srgbClr val="FFFFFF"/>
          </a:solidFill>
          <a:ln w="12700">
            <a:solidFill>
              <a:srgbClr val="E1E8F5"/>
            </a:solidFill>
            <a:prstDash val="solid"/>
          </a:ln>
        </p:spPr>
      </p:sp>
      <p:sp>
        <p:nvSpPr>
          <p:cNvPr id="9" name="Shape 7"/>
          <p:cNvSpPr/>
          <p:nvPr/>
        </p:nvSpPr>
        <p:spPr>
          <a:xfrm>
            <a:off x="11503152" y="3090672"/>
            <a:ext cx="109728" cy="1417320"/>
          </a:xfrm>
          <a:prstGeom prst="rect">
            <a:avLst/>
          </a:prstGeom>
          <a:solidFill>
            <a:srgbClr val="F2B705"/>
          </a:solidFill>
          <a:ln/>
        </p:spPr>
      </p:sp>
      <p:sp>
        <p:nvSpPr>
          <p:cNvPr id="10" name="Text 8"/>
          <p:cNvSpPr/>
          <p:nvPr/>
        </p:nvSpPr>
        <p:spPr>
          <a:xfrm>
            <a:off x="5760720" y="3291840"/>
            <a:ext cx="5486400" cy="457200"/>
          </a:xfrm>
          <a:prstGeom prst="rect">
            <a:avLst/>
          </a:prstGeom>
          <a:noFill/>
          <a:ln/>
        </p:spPr>
        <p:txBody>
          <a:bodyPr wrap="square" rtlCol="0" anchor="ctr"/>
          <a:lstStyle/>
          <a:p>
            <a:pPr marL="0" indent="0" algn="r" rtl="1">
              <a:buNone/>
            </a:pPr>
            <a:r>
              <a:rPr lang="en-US" sz="2000" b="1" dirty="0">
                <a:solidFill>
                  <a:srgbClr val="1E2761"/>
                </a:solidFill>
                <a:latin typeface="Arial" pitchFamily="34" charset="0"/>
                <a:ea typeface="Arial" pitchFamily="34" charset="-122"/>
                <a:cs typeface="Arial" pitchFamily="34" charset="-120"/>
              </a:rPr>
              <a:t>خفيف الوزن</a:t>
            </a:r>
            <a:endParaRPr lang="en-US" sz="2000" dirty="0"/>
          </a:p>
        </p:txBody>
      </p:sp>
      <p:sp>
        <p:nvSpPr>
          <p:cNvPr id="11" name="Text 9"/>
          <p:cNvSpPr/>
          <p:nvPr/>
        </p:nvSpPr>
        <p:spPr>
          <a:xfrm>
            <a:off x="822960" y="3776472"/>
            <a:ext cx="10424160" cy="594360"/>
          </a:xfrm>
          <a:prstGeom prst="rect">
            <a:avLst/>
          </a:prstGeom>
          <a:noFill/>
          <a:ln/>
        </p:spPr>
        <p:txBody>
          <a:bodyPr wrap="square" rtlCol="0" anchor="ctr"/>
          <a:lstStyle/>
          <a:p>
            <a:pPr marL="0" indent="0" algn="r" rtl="1">
              <a:buNone/>
            </a:pPr>
            <a:r>
              <a:rPr lang="en-US" sz="1600" dirty="0">
                <a:solidFill>
                  <a:srgbClr val="5B6472"/>
                </a:solidFill>
                <a:latin typeface="Arial" pitchFamily="34" charset="0"/>
                <a:ea typeface="Arial" pitchFamily="34" charset="-122"/>
                <a:cs typeface="Arial" pitchFamily="34" charset="-120"/>
              </a:rPr>
              <a:t>بعد التدريب يتحوّل SVM إلى معادلة رياضية بسيطة بحجم كيلوبايتات، بعكس الغابات العشوائية الأثقل.</a:t>
            </a:r>
            <a:endParaRPr lang="en-US" sz="1600" dirty="0"/>
          </a:p>
        </p:txBody>
      </p:sp>
      <p:sp>
        <p:nvSpPr>
          <p:cNvPr id="12" name="Shape 10"/>
          <p:cNvSpPr/>
          <p:nvPr/>
        </p:nvSpPr>
        <p:spPr>
          <a:xfrm>
            <a:off x="548640" y="4718304"/>
            <a:ext cx="11064240" cy="1417320"/>
          </a:xfrm>
          <a:prstGeom prst="rect">
            <a:avLst/>
          </a:prstGeom>
          <a:solidFill>
            <a:srgbClr val="FFFFFF"/>
          </a:solidFill>
          <a:ln w="12700">
            <a:solidFill>
              <a:srgbClr val="E1E8F5"/>
            </a:solidFill>
            <a:prstDash val="solid"/>
          </a:ln>
        </p:spPr>
      </p:sp>
      <p:sp>
        <p:nvSpPr>
          <p:cNvPr id="13" name="Shape 11"/>
          <p:cNvSpPr/>
          <p:nvPr/>
        </p:nvSpPr>
        <p:spPr>
          <a:xfrm>
            <a:off x="11503152" y="4718304"/>
            <a:ext cx="109728" cy="1417320"/>
          </a:xfrm>
          <a:prstGeom prst="rect">
            <a:avLst/>
          </a:prstGeom>
          <a:solidFill>
            <a:srgbClr val="F2B705"/>
          </a:solidFill>
          <a:ln/>
        </p:spPr>
      </p:sp>
      <p:sp>
        <p:nvSpPr>
          <p:cNvPr id="14" name="Text 12"/>
          <p:cNvSpPr/>
          <p:nvPr/>
        </p:nvSpPr>
        <p:spPr>
          <a:xfrm>
            <a:off x="5760720" y="4919472"/>
            <a:ext cx="5486400" cy="457200"/>
          </a:xfrm>
          <a:prstGeom prst="rect">
            <a:avLst/>
          </a:prstGeom>
          <a:noFill/>
          <a:ln/>
        </p:spPr>
        <p:txBody>
          <a:bodyPr wrap="square" rtlCol="0" anchor="ctr"/>
          <a:lstStyle/>
          <a:p>
            <a:pPr marL="0" indent="0" algn="r" rtl="1">
              <a:buNone/>
            </a:pPr>
            <a:r>
              <a:rPr lang="en-US" sz="2000" b="1" dirty="0">
                <a:solidFill>
                  <a:srgbClr val="1E2761"/>
                </a:solidFill>
                <a:latin typeface="Arial" pitchFamily="34" charset="0"/>
                <a:ea typeface="Arial" pitchFamily="34" charset="-122"/>
                <a:cs typeface="Arial" pitchFamily="34" charset="-120"/>
              </a:rPr>
              <a:t>يعمل على الجهاز</a:t>
            </a:r>
            <a:endParaRPr lang="en-US" sz="2000" dirty="0"/>
          </a:p>
        </p:txBody>
      </p:sp>
      <p:sp>
        <p:nvSpPr>
          <p:cNvPr id="15" name="Text 13"/>
          <p:cNvSpPr/>
          <p:nvPr/>
        </p:nvSpPr>
        <p:spPr>
          <a:xfrm>
            <a:off x="822960" y="5404104"/>
            <a:ext cx="10424160" cy="594360"/>
          </a:xfrm>
          <a:prstGeom prst="rect">
            <a:avLst/>
          </a:prstGeom>
          <a:noFill/>
          <a:ln/>
        </p:spPr>
        <p:txBody>
          <a:bodyPr wrap="square" rtlCol="0" anchor="ctr"/>
          <a:lstStyle/>
          <a:p>
            <a:pPr marL="0" indent="0" algn="r" rtl="1">
              <a:buNone/>
            </a:pPr>
            <a:r>
              <a:rPr lang="en-US" sz="1600" dirty="0">
                <a:solidFill>
                  <a:srgbClr val="5B6472"/>
                </a:solidFill>
                <a:latin typeface="Arial" pitchFamily="34" charset="0"/>
                <a:ea typeface="Arial" pitchFamily="34" charset="-122"/>
                <a:cs typeface="Arial" pitchFamily="34" charset="-120"/>
              </a:rPr>
              <a:t>يمكن دمج SVM داخل تطبيق Flutter ليعمل On-device بدون إنترنت وبأقل استهلاك للبطارية والمعالج.</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64592"/>
          </a:xfrm>
          <a:prstGeom prst="rect">
            <a:avLst/>
          </a:prstGeom>
          <a:solidFill>
            <a:srgbClr val="F2B705"/>
          </a:solidFill>
          <a:ln/>
        </p:spPr>
      </p:sp>
      <p:sp>
        <p:nvSpPr>
          <p:cNvPr id="3" name="Text 1"/>
          <p:cNvSpPr/>
          <p:nvPr/>
        </p:nvSpPr>
        <p:spPr>
          <a:xfrm>
            <a:off x="548640" y="1280160"/>
            <a:ext cx="11064240" cy="822960"/>
          </a:xfrm>
          <a:prstGeom prst="rect">
            <a:avLst/>
          </a:prstGeom>
          <a:noFill/>
          <a:ln/>
        </p:spPr>
        <p:txBody>
          <a:bodyPr wrap="square" rtlCol="0" anchor="ctr"/>
          <a:lstStyle/>
          <a:p>
            <a:pPr marL="0" indent="0" algn="r" rtl="1">
              <a:buNone/>
            </a:pPr>
            <a:r>
              <a:rPr lang="en-US" sz="3800" b="1" dirty="0">
                <a:solidFill>
                  <a:srgbClr val="FFFFFF"/>
                </a:solidFill>
                <a:latin typeface="Arial" pitchFamily="34" charset="0"/>
                <a:ea typeface="Arial" pitchFamily="34" charset="-122"/>
                <a:cs typeface="Arial" pitchFamily="34" charset="-120"/>
              </a:rPr>
              <a:t>الخلاصة</a:t>
            </a:r>
            <a:endParaRPr lang="en-US" sz="3800" dirty="0"/>
          </a:p>
        </p:txBody>
      </p:sp>
      <p:sp>
        <p:nvSpPr>
          <p:cNvPr id="4" name="Text 2"/>
          <p:cNvSpPr/>
          <p:nvPr/>
        </p:nvSpPr>
        <p:spPr>
          <a:xfrm>
            <a:off x="1097280" y="2377440"/>
            <a:ext cx="9966960" cy="2011680"/>
          </a:xfrm>
          <a:prstGeom prst="rect">
            <a:avLst/>
          </a:prstGeom>
          <a:noFill/>
          <a:ln/>
        </p:spPr>
        <p:txBody>
          <a:bodyPr wrap="square" rtlCol="0" anchor="t"/>
          <a:lstStyle/>
          <a:p>
            <a:pPr marL="0" indent="0" algn="r" rtl="1">
              <a:lnSpc>
                <a:spcPct val="140000"/>
              </a:lnSpc>
              <a:buNone/>
            </a:pPr>
            <a:r>
              <a:rPr lang="en-US" sz="2100" dirty="0">
                <a:solidFill>
                  <a:srgbClr val="CADCFC"/>
                </a:solidFill>
                <a:latin typeface="Arial" pitchFamily="34" charset="0"/>
                <a:ea typeface="Arial" pitchFamily="34" charset="-122"/>
                <a:cs typeface="Arial" pitchFamily="34" charset="-120"/>
              </a:rPr>
              <a:t>أثبت المشروع نجاح بناء نموذج تصنيف عالي الدقة لتوقّع تحوّل المستخدمين. وأظهرت المقارنة أن خوارزمية SVM الخطية هي الخيار الأنسب للنشر على الأجهزة المحمولة، لخفّة وزنها وكفاءتها في استهلاك الموارد مع الحفاظ على أعلى دقة بين النماذج الثلاثة.</a:t>
            </a:r>
            <a:endParaRPr lang="en-US" sz="2100" dirty="0"/>
          </a:p>
        </p:txBody>
      </p:sp>
      <p:sp>
        <p:nvSpPr>
          <p:cNvPr id="5" name="Shape 3"/>
          <p:cNvSpPr/>
          <p:nvPr/>
        </p:nvSpPr>
        <p:spPr>
          <a:xfrm>
            <a:off x="7589520" y="4663440"/>
            <a:ext cx="3474720" cy="0"/>
          </a:xfrm>
          <a:prstGeom prst="line">
            <a:avLst/>
          </a:prstGeom>
          <a:noFill/>
          <a:ln w="25400">
            <a:solidFill>
              <a:srgbClr val="F2B705"/>
            </a:solidFill>
            <a:prstDash val="solid"/>
          </a:ln>
        </p:spPr>
      </p:sp>
      <p:sp>
        <p:nvSpPr>
          <p:cNvPr id="6" name="Text 4"/>
          <p:cNvSpPr/>
          <p:nvPr/>
        </p:nvSpPr>
        <p:spPr>
          <a:xfrm>
            <a:off x="548640" y="4937760"/>
            <a:ext cx="10515600" cy="640080"/>
          </a:xfrm>
          <a:prstGeom prst="rect">
            <a:avLst/>
          </a:prstGeom>
          <a:noFill/>
          <a:ln/>
        </p:spPr>
        <p:txBody>
          <a:bodyPr wrap="square" rtlCol="0" anchor="ctr"/>
          <a:lstStyle/>
          <a:p>
            <a:pPr marL="0" indent="0" algn="r" rtl="1">
              <a:buNone/>
            </a:pPr>
            <a:r>
              <a:rPr lang="en-US" sz="2400" b="1" dirty="0" err="1">
                <a:solidFill>
                  <a:srgbClr val="FFFFFF"/>
                </a:solidFill>
                <a:latin typeface="Arial" pitchFamily="34" charset="0"/>
                <a:ea typeface="Arial" pitchFamily="34" charset="-122"/>
                <a:cs typeface="Arial" pitchFamily="34" charset="-120"/>
              </a:rPr>
              <a:t>شكراً</a:t>
            </a:r>
            <a:r>
              <a:rPr lang="en-US" sz="2400" b="1" dirty="0">
                <a:solidFill>
                  <a:srgbClr val="FFFFFF"/>
                </a:solidFill>
                <a:latin typeface="Arial" pitchFamily="34" charset="0"/>
                <a:ea typeface="Arial" pitchFamily="34" charset="-122"/>
                <a:cs typeface="Arial" pitchFamily="34" charset="-120"/>
              </a:rPr>
              <a:t> </a:t>
            </a:r>
            <a:r>
              <a:rPr lang="en-US" sz="2400" b="1" dirty="0" err="1">
                <a:solidFill>
                  <a:srgbClr val="FFFFFF"/>
                </a:solidFill>
                <a:latin typeface="Arial" pitchFamily="34" charset="0"/>
                <a:ea typeface="Arial" pitchFamily="34" charset="-122"/>
                <a:cs typeface="Arial" pitchFamily="34" charset="-120"/>
              </a:rPr>
              <a:t>لكم</a:t>
            </a:r>
            <a:endParaRPr lang="en-US" sz="2400" b="1" dirty="0">
              <a:solidFill>
                <a:srgbClr val="FFFFFF"/>
              </a:solidFill>
              <a:latin typeface="Arial" pitchFamily="34" charset="0"/>
              <a:ea typeface="Arial" pitchFamily="34" charset="-122"/>
              <a:cs typeface="Arial" pitchFamily="34" charset="-120"/>
            </a:endParaRPr>
          </a:p>
          <a:p>
            <a:pPr marL="0" indent="0" algn="r" rtl="1">
              <a:buNone/>
            </a:pPr>
            <a:r>
              <a:rPr lang="ar-PS" sz="2400" b="1" dirty="0">
                <a:solidFill>
                  <a:srgbClr val="FFFFFF"/>
                </a:solidFill>
                <a:latin typeface="Arial" pitchFamily="34" charset="0"/>
                <a:cs typeface="Arial" pitchFamily="34" charset="-120"/>
              </a:rPr>
              <a:t>إعداد الطالبة : نور محمد </a:t>
            </a:r>
            <a:r>
              <a:rPr lang="ar-PS" sz="2400" b="1" dirty="0" err="1">
                <a:solidFill>
                  <a:srgbClr val="FFFFFF"/>
                </a:solidFill>
                <a:latin typeface="Arial" pitchFamily="34" charset="0"/>
                <a:cs typeface="Arial" pitchFamily="34" charset="-120"/>
              </a:rPr>
              <a:t>أبوسلطان</a:t>
            </a:r>
            <a:r>
              <a:rPr lang="ar-PS" sz="2400" b="1" dirty="0">
                <a:solidFill>
                  <a:srgbClr val="FFFFFF"/>
                </a:solidFill>
                <a:latin typeface="Arial" pitchFamily="34" charset="0"/>
                <a:cs typeface="Arial" pitchFamily="34" charset="-120"/>
              </a:rPr>
              <a:t> </a:t>
            </a:r>
            <a:endParaRPr lang="en-US" sz="2400" dirty="0"/>
          </a:p>
        </p:txBody>
      </p:sp>
    </p:spTree>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317</Words>
  <Application>Microsoft Office PowerPoint</Application>
  <PresentationFormat>شاشة عريضة</PresentationFormat>
  <Paragraphs>54</Paragraphs>
  <Slides>6</Slides>
  <Notes>6</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6</vt:i4>
      </vt:variant>
    </vt:vector>
  </HeadingPairs>
  <TitlesOfParts>
    <vt:vector size="10" baseType="lpstr">
      <vt:lpstr>Arial</vt:lpstr>
      <vt:lpstr>Calibri</vt:lpstr>
      <vt:lpstr>Calibri Light</vt:lpstr>
      <vt:lpstr>نسق Office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مشروع الذكاء الاصطناعي</dc:title>
  <dc:subject>PptxGenJS Presentation</dc:subject>
  <dc:creator>Tasneem</dc:creator>
  <cp:lastModifiedBy>Hp</cp:lastModifiedBy>
  <cp:revision>2</cp:revision>
  <dcterms:created xsi:type="dcterms:W3CDTF">2026-06-10T12:37:23Z</dcterms:created>
  <dcterms:modified xsi:type="dcterms:W3CDTF">2026-06-10T13:12:42Z</dcterms:modified>
</cp:coreProperties>
</file>